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59" r:id="rId2"/>
    <p:sldId id="342" r:id="rId3"/>
    <p:sldId id="322" r:id="rId4"/>
    <p:sldId id="409" r:id="rId5"/>
    <p:sldId id="410" r:id="rId6"/>
    <p:sldId id="411" r:id="rId7"/>
    <p:sldId id="415" r:id="rId8"/>
    <p:sldId id="416" r:id="rId9"/>
    <p:sldId id="417" r:id="rId10"/>
    <p:sldId id="422" r:id="rId11"/>
    <p:sldId id="418" r:id="rId12"/>
    <p:sldId id="428" r:id="rId13"/>
    <p:sldId id="430" r:id="rId14"/>
    <p:sldId id="431" r:id="rId15"/>
    <p:sldId id="432" r:id="rId16"/>
    <p:sldId id="433" r:id="rId17"/>
    <p:sldId id="434" r:id="rId18"/>
    <p:sldId id="419" r:id="rId19"/>
    <p:sldId id="424" r:id="rId20"/>
    <p:sldId id="420" r:id="rId21"/>
    <p:sldId id="425" r:id="rId22"/>
    <p:sldId id="421" r:id="rId23"/>
    <p:sldId id="426" r:id="rId24"/>
    <p:sldId id="427" r:id="rId25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4C"/>
    <a:srgbClr val="003142"/>
    <a:srgbClr val="0083B4"/>
    <a:srgbClr val="3B4761"/>
    <a:srgbClr val="D78668"/>
    <a:srgbClr val="D88769"/>
    <a:srgbClr val="F0F0F0"/>
    <a:srgbClr val="497193"/>
    <a:srgbClr val="005697"/>
    <a:srgbClr val="FF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6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72" y="187"/>
      </p:cViewPr>
      <p:guideLst>
        <p:guide orient="horz" pos="89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68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47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79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8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076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48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453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420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63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ziliao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fanwen/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7" y="555120"/>
            <a:ext cx="8154820" cy="45719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0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ale-university-graduate-silhouette-with-the-cap_46143"/>
          <p:cNvSpPr>
            <a:spLocks noChangeAspect="1"/>
          </p:cNvSpPr>
          <p:nvPr userDrawn="1"/>
        </p:nvSpPr>
        <p:spPr bwMode="auto">
          <a:xfrm>
            <a:off x="100490" y="167365"/>
            <a:ext cx="388445" cy="418480"/>
          </a:xfrm>
          <a:custGeom>
            <a:avLst/>
            <a:gdLst>
              <a:gd name="T0" fmla="*/ 233 w 238"/>
              <a:gd name="T1" fmla="*/ 236 h 256"/>
              <a:gd name="T2" fmla="*/ 173 w 238"/>
              <a:gd name="T3" fmla="*/ 210 h 256"/>
              <a:gd name="T4" fmla="*/ 168 w 238"/>
              <a:gd name="T5" fmla="*/ 207 h 256"/>
              <a:gd name="T6" fmla="*/ 164 w 238"/>
              <a:gd name="T7" fmla="*/ 195 h 256"/>
              <a:gd name="T8" fmla="*/ 159 w 238"/>
              <a:gd name="T9" fmla="*/ 189 h 256"/>
              <a:gd name="T10" fmla="*/ 157 w 238"/>
              <a:gd name="T11" fmla="*/ 186 h 256"/>
              <a:gd name="T12" fmla="*/ 158 w 238"/>
              <a:gd name="T13" fmla="*/ 167 h 256"/>
              <a:gd name="T14" fmla="*/ 167 w 238"/>
              <a:gd name="T15" fmla="*/ 149 h 256"/>
              <a:gd name="T16" fmla="*/ 178 w 238"/>
              <a:gd name="T17" fmla="*/ 113 h 256"/>
              <a:gd name="T18" fmla="*/ 172 w 238"/>
              <a:gd name="T19" fmla="*/ 109 h 256"/>
              <a:gd name="T20" fmla="*/ 179 w 238"/>
              <a:gd name="T21" fmla="*/ 77 h 256"/>
              <a:gd name="T22" fmla="*/ 180 w 238"/>
              <a:gd name="T23" fmla="*/ 84 h 256"/>
              <a:gd name="T24" fmla="*/ 180 w 238"/>
              <a:gd name="T25" fmla="*/ 86 h 256"/>
              <a:gd name="T26" fmla="*/ 216 w 238"/>
              <a:gd name="T27" fmla="*/ 63 h 256"/>
              <a:gd name="T28" fmla="*/ 119 w 238"/>
              <a:gd name="T29" fmla="*/ 0 h 256"/>
              <a:gd name="T30" fmla="*/ 21 w 238"/>
              <a:gd name="T31" fmla="*/ 63 h 256"/>
              <a:gd name="T32" fmla="*/ 30 w 238"/>
              <a:gd name="T33" fmla="*/ 69 h 256"/>
              <a:gd name="T34" fmla="*/ 30 w 238"/>
              <a:gd name="T35" fmla="*/ 82 h 256"/>
              <a:gd name="T36" fmla="*/ 27 w 238"/>
              <a:gd name="T37" fmla="*/ 85 h 256"/>
              <a:gd name="T38" fmla="*/ 29 w 238"/>
              <a:gd name="T39" fmla="*/ 89 h 256"/>
              <a:gd name="T40" fmla="*/ 21 w 238"/>
              <a:gd name="T41" fmla="*/ 133 h 256"/>
              <a:gd name="T42" fmla="*/ 41 w 238"/>
              <a:gd name="T43" fmla="*/ 133 h 256"/>
              <a:gd name="T44" fmla="*/ 33 w 238"/>
              <a:gd name="T45" fmla="*/ 89 h 256"/>
              <a:gd name="T46" fmla="*/ 35 w 238"/>
              <a:gd name="T47" fmla="*/ 85 h 256"/>
              <a:gd name="T48" fmla="*/ 32 w 238"/>
              <a:gd name="T49" fmla="*/ 82 h 256"/>
              <a:gd name="T50" fmla="*/ 32 w 238"/>
              <a:gd name="T51" fmla="*/ 70 h 256"/>
              <a:gd name="T52" fmla="*/ 57 w 238"/>
              <a:gd name="T53" fmla="*/ 86 h 256"/>
              <a:gd name="T54" fmla="*/ 57 w 238"/>
              <a:gd name="T55" fmla="*/ 85 h 256"/>
              <a:gd name="T56" fmla="*/ 58 w 238"/>
              <a:gd name="T57" fmla="*/ 92 h 256"/>
              <a:gd name="T58" fmla="*/ 67 w 238"/>
              <a:gd name="T59" fmla="*/ 109 h 256"/>
              <a:gd name="T60" fmla="*/ 67 w 238"/>
              <a:gd name="T61" fmla="*/ 110 h 256"/>
              <a:gd name="T62" fmla="*/ 67 w 238"/>
              <a:gd name="T63" fmla="*/ 110 h 256"/>
              <a:gd name="T64" fmla="*/ 65 w 238"/>
              <a:gd name="T65" fmla="*/ 113 h 256"/>
              <a:gd name="T66" fmla="*/ 62 w 238"/>
              <a:gd name="T67" fmla="*/ 118 h 256"/>
              <a:gd name="T68" fmla="*/ 66 w 238"/>
              <a:gd name="T69" fmla="*/ 138 h 256"/>
              <a:gd name="T70" fmla="*/ 70 w 238"/>
              <a:gd name="T71" fmla="*/ 148 h 256"/>
              <a:gd name="T72" fmla="*/ 80 w 238"/>
              <a:gd name="T73" fmla="*/ 166 h 256"/>
              <a:gd name="T74" fmla="*/ 82 w 238"/>
              <a:gd name="T75" fmla="*/ 170 h 256"/>
              <a:gd name="T76" fmla="*/ 80 w 238"/>
              <a:gd name="T77" fmla="*/ 186 h 256"/>
              <a:gd name="T78" fmla="*/ 77 w 238"/>
              <a:gd name="T79" fmla="*/ 189 h 256"/>
              <a:gd name="T80" fmla="*/ 71 w 238"/>
              <a:gd name="T81" fmla="*/ 195 h 256"/>
              <a:gd name="T82" fmla="*/ 67 w 238"/>
              <a:gd name="T83" fmla="*/ 206 h 256"/>
              <a:gd name="T84" fmla="*/ 64 w 238"/>
              <a:gd name="T85" fmla="*/ 209 h 256"/>
              <a:gd name="T86" fmla="*/ 41 w 238"/>
              <a:gd name="T87" fmla="*/ 217 h 256"/>
              <a:gd name="T88" fmla="*/ 4 w 238"/>
              <a:gd name="T89" fmla="*/ 237 h 256"/>
              <a:gd name="T90" fmla="*/ 2 w 238"/>
              <a:gd name="T91" fmla="*/ 256 h 256"/>
              <a:gd name="T92" fmla="*/ 235 w 238"/>
              <a:gd name="T93" fmla="*/ 256 h 256"/>
              <a:gd name="T94" fmla="*/ 233 w 238"/>
              <a:gd name="T95" fmla="*/ 23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38" h="256">
                <a:moveTo>
                  <a:pt x="233" y="236"/>
                </a:moveTo>
                <a:cubicBezTo>
                  <a:pt x="210" y="226"/>
                  <a:pt x="197" y="218"/>
                  <a:pt x="173" y="210"/>
                </a:cubicBezTo>
                <a:cubicBezTo>
                  <a:pt x="171" y="209"/>
                  <a:pt x="169" y="208"/>
                  <a:pt x="168" y="207"/>
                </a:cubicBezTo>
                <a:cubicBezTo>
                  <a:pt x="166" y="203"/>
                  <a:pt x="165" y="199"/>
                  <a:pt x="164" y="195"/>
                </a:cubicBezTo>
                <a:cubicBezTo>
                  <a:pt x="163" y="193"/>
                  <a:pt x="162" y="190"/>
                  <a:pt x="159" y="189"/>
                </a:cubicBezTo>
                <a:cubicBezTo>
                  <a:pt x="158" y="189"/>
                  <a:pt x="157" y="187"/>
                  <a:pt x="157" y="186"/>
                </a:cubicBezTo>
                <a:cubicBezTo>
                  <a:pt x="157" y="177"/>
                  <a:pt x="154" y="171"/>
                  <a:pt x="158" y="167"/>
                </a:cubicBezTo>
                <a:cubicBezTo>
                  <a:pt x="165" y="161"/>
                  <a:pt x="164" y="153"/>
                  <a:pt x="167" y="149"/>
                </a:cubicBezTo>
                <a:cubicBezTo>
                  <a:pt x="171" y="145"/>
                  <a:pt x="180" y="117"/>
                  <a:pt x="178" y="113"/>
                </a:cubicBezTo>
                <a:cubicBezTo>
                  <a:pt x="176" y="109"/>
                  <a:pt x="170" y="111"/>
                  <a:pt x="172" y="109"/>
                </a:cubicBezTo>
                <a:cubicBezTo>
                  <a:pt x="177" y="102"/>
                  <a:pt x="179" y="89"/>
                  <a:pt x="179" y="77"/>
                </a:cubicBezTo>
                <a:cubicBezTo>
                  <a:pt x="180" y="79"/>
                  <a:pt x="180" y="81"/>
                  <a:pt x="180" y="84"/>
                </a:cubicBezTo>
                <a:cubicBezTo>
                  <a:pt x="180" y="86"/>
                  <a:pt x="180" y="86"/>
                  <a:pt x="180" y="86"/>
                </a:cubicBezTo>
                <a:cubicBezTo>
                  <a:pt x="216" y="63"/>
                  <a:pt x="216" y="63"/>
                  <a:pt x="216" y="63"/>
                </a:cubicBezTo>
                <a:cubicBezTo>
                  <a:pt x="119" y="0"/>
                  <a:pt x="119" y="0"/>
                  <a:pt x="119" y="0"/>
                </a:cubicBezTo>
                <a:cubicBezTo>
                  <a:pt x="21" y="63"/>
                  <a:pt x="21" y="63"/>
                  <a:pt x="21" y="63"/>
                </a:cubicBezTo>
                <a:cubicBezTo>
                  <a:pt x="30" y="69"/>
                  <a:pt x="30" y="69"/>
                  <a:pt x="30" y="69"/>
                </a:cubicBezTo>
                <a:cubicBezTo>
                  <a:pt x="30" y="82"/>
                  <a:pt x="30" y="82"/>
                  <a:pt x="30" y="82"/>
                </a:cubicBezTo>
                <a:cubicBezTo>
                  <a:pt x="29" y="82"/>
                  <a:pt x="27" y="84"/>
                  <a:pt x="27" y="85"/>
                </a:cubicBezTo>
                <a:cubicBezTo>
                  <a:pt x="27" y="87"/>
                  <a:pt x="28" y="88"/>
                  <a:pt x="29" y="89"/>
                </a:cubicBezTo>
                <a:cubicBezTo>
                  <a:pt x="21" y="133"/>
                  <a:pt x="21" y="133"/>
                  <a:pt x="21" y="133"/>
                </a:cubicBezTo>
                <a:cubicBezTo>
                  <a:pt x="41" y="133"/>
                  <a:pt x="41" y="133"/>
                  <a:pt x="41" y="133"/>
                </a:cubicBezTo>
                <a:cubicBezTo>
                  <a:pt x="33" y="89"/>
                  <a:pt x="33" y="89"/>
                  <a:pt x="33" y="89"/>
                </a:cubicBezTo>
                <a:cubicBezTo>
                  <a:pt x="34" y="88"/>
                  <a:pt x="35" y="87"/>
                  <a:pt x="35" y="85"/>
                </a:cubicBezTo>
                <a:cubicBezTo>
                  <a:pt x="35" y="84"/>
                  <a:pt x="34" y="82"/>
                  <a:pt x="32" y="82"/>
                </a:cubicBezTo>
                <a:cubicBezTo>
                  <a:pt x="32" y="70"/>
                  <a:pt x="32" y="70"/>
                  <a:pt x="32" y="70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5"/>
                  <a:pt x="57" y="85"/>
                  <a:pt x="57" y="85"/>
                </a:cubicBezTo>
                <a:cubicBezTo>
                  <a:pt x="57" y="87"/>
                  <a:pt x="57" y="89"/>
                  <a:pt x="58" y="92"/>
                </a:cubicBezTo>
                <a:cubicBezTo>
                  <a:pt x="60" y="100"/>
                  <a:pt x="64" y="100"/>
                  <a:pt x="67" y="109"/>
                </a:cubicBezTo>
                <a:cubicBezTo>
                  <a:pt x="67" y="109"/>
                  <a:pt x="67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6" y="111"/>
                  <a:pt x="66" y="113"/>
                  <a:pt x="65" y="113"/>
                </a:cubicBezTo>
                <a:cubicBezTo>
                  <a:pt x="61" y="114"/>
                  <a:pt x="61" y="116"/>
                  <a:pt x="62" y="118"/>
                </a:cubicBezTo>
                <a:cubicBezTo>
                  <a:pt x="62" y="120"/>
                  <a:pt x="65" y="133"/>
                  <a:pt x="66" y="138"/>
                </a:cubicBezTo>
                <a:cubicBezTo>
                  <a:pt x="67" y="141"/>
                  <a:pt x="70" y="144"/>
                  <a:pt x="70" y="148"/>
                </a:cubicBezTo>
                <a:cubicBezTo>
                  <a:pt x="72" y="155"/>
                  <a:pt x="75" y="161"/>
                  <a:pt x="80" y="166"/>
                </a:cubicBezTo>
                <a:cubicBezTo>
                  <a:pt x="81" y="167"/>
                  <a:pt x="82" y="169"/>
                  <a:pt x="82" y="170"/>
                </a:cubicBezTo>
                <a:cubicBezTo>
                  <a:pt x="81" y="175"/>
                  <a:pt x="81" y="181"/>
                  <a:pt x="80" y="186"/>
                </a:cubicBezTo>
                <a:cubicBezTo>
                  <a:pt x="80" y="187"/>
                  <a:pt x="78" y="189"/>
                  <a:pt x="77" y="189"/>
                </a:cubicBezTo>
                <a:cubicBezTo>
                  <a:pt x="73" y="190"/>
                  <a:pt x="72" y="193"/>
                  <a:pt x="71" y="195"/>
                </a:cubicBezTo>
                <a:cubicBezTo>
                  <a:pt x="70" y="199"/>
                  <a:pt x="69" y="203"/>
                  <a:pt x="67" y="206"/>
                </a:cubicBezTo>
                <a:cubicBezTo>
                  <a:pt x="67" y="207"/>
                  <a:pt x="65" y="209"/>
                  <a:pt x="64" y="209"/>
                </a:cubicBezTo>
                <a:cubicBezTo>
                  <a:pt x="56" y="212"/>
                  <a:pt x="49" y="214"/>
                  <a:pt x="41" y="217"/>
                </a:cubicBezTo>
                <a:cubicBezTo>
                  <a:pt x="33" y="220"/>
                  <a:pt x="12" y="233"/>
                  <a:pt x="4" y="237"/>
                </a:cubicBezTo>
                <a:cubicBezTo>
                  <a:pt x="0" y="239"/>
                  <a:pt x="2" y="256"/>
                  <a:pt x="2" y="256"/>
                </a:cubicBezTo>
                <a:cubicBezTo>
                  <a:pt x="235" y="256"/>
                  <a:pt x="235" y="256"/>
                  <a:pt x="235" y="256"/>
                </a:cubicBezTo>
                <a:cubicBezTo>
                  <a:pt x="235" y="256"/>
                  <a:pt x="238" y="238"/>
                  <a:pt x="233" y="236"/>
                </a:cubicBezTo>
                <a:close/>
              </a:path>
            </a:pathLst>
          </a:custGeom>
          <a:solidFill>
            <a:srgbClr val="00314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2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69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73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228184" y="17117366"/>
            <a:ext cx="827801" cy="36802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2"/>
              </a:rPr>
              <a:t>www.1ppt.com/moban/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3"/>
              </a:rPr>
              <a:t>www.1ppt.com/hangye/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4"/>
              </a:rPr>
              <a:t>www.1ppt.com/jieri/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5"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6"/>
              </a:rPr>
              <a:t>www.1ppt.com/beijing/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7"/>
              </a:rPr>
              <a:t>www.1ppt.com/tubiao/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8"/>
              </a:rPr>
              <a:t>www.1ppt.com/xiazai/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9"/>
              </a:rPr>
              <a:t>www.1ppt.com/powerpoint/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0"/>
              </a:rPr>
              <a:t>www.1ppt.com/word/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1"/>
              </a:rPr>
              <a:t>www.1ppt.com/excel/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2"/>
              </a:rPr>
              <a:t>www.1ppt.com/ziliao/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3"/>
              </a:rPr>
              <a:t>www.1ppt.com/kejian/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4"/>
              </a:rPr>
              <a:t>www.1ppt.com/fanwen/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5"/>
              </a:rPr>
              <a:t>www.1ppt.com/shiti/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6"/>
              </a:rPr>
              <a:t>www.1ppt.com/jiaoan/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  <a:hlinkClick r:id="rId17"/>
              </a:rPr>
              <a:t>www.1ppt.com/ziti/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 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69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588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71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52" tIns="45726" rIns="91452" bIns="457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54" r:id="rId4"/>
    <p:sldLayoutId id="2147483662" r:id="rId5"/>
    <p:sldLayoutId id="2147483663" r:id="rId6"/>
    <p:sldLayoutId id="2147483664" r:id="rId7"/>
    <p:sldLayoutId id="2147483665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5536" y="1455626"/>
            <a:ext cx="8352928" cy="2844316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TextBox 26"/>
          <p:cNvSpPr txBox="1"/>
          <p:nvPr/>
        </p:nvSpPr>
        <p:spPr>
          <a:xfrm>
            <a:off x="2735796" y="311206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团队名称：实验做不队</a:t>
            </a:r>
          </a:p>
        </p:txBody>
      </p:sp>
      <p:sp>
        <p:nvSpPr>
          <p:cNvPr id="25" name="矩形 24"/>
          <p:cNvSpPr/>
          <p:nvPr/>
        </p:nvSpPr>
        <p:spPr>
          <a:xfrm>
            <a:off x="1243556" y="1986597"/>
            <a:ext cx="665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>
                <a:solidFill>
                  <a:schemeClr val="bg1"/>
                </a:solidFill>
                <a:cs typeface="+mn-ea"/>
                <a:sym typeface="+mn-lt"/>
              </a:rPr>
              <a:t>基于</a:t>
            </a:r>
            <a:r>
              <a:rPr lang="en-US" altLang="zh-CN" sz="3600" b="1" spc="300" dirty="0">
                <a:solidFill>
                  <a:schemeClr val="bg1"/>
                </a:solidFill>
                <a:cs typeface="+mn-ea"/>
                <a:sym typeface="+mn-lt"/>
              </a:rPr>
              <a:t>RISC-V</a:t>
            </a:r>
            <a:r>
              <a:rPr lang="zh-CN" altLang="en-US" sz="3600" b="1" spc="300" dirty="0">
                <a:solidFill>
                  <a:schemeClr val="bg1"/>
                </a:solidFill>
                <a:cs typeface="+mn-ea"/>
                <a:sym typeface="+mn-lt"/>
              </a:rPr>
              <a:t>的简易迷宫游戏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6353" y="35284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团队</a:t>
            </a: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成员：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69492" y="700376"/>
            <a:ext cx="1636291" cy="1159449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91262" y="4065896"/>
            <a:ext cx="2016224" cy="531310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93" y="734952"/>
            <a:ext cx="1636291" cy="1348662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565" y="4075363"/>
            <a:ext cx="2122869" cy="49213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3F885B5-2EBC-4212-AAB4-2031DA7613E9}"/>
              </a:ext>
            </a:extLst>
          </p:cNvPr>
          <p:cNvSpPr/>
          <p:nvPr/>
        </p:nvSpPr>
        <p:spPr>
          <a:xfrm>
            <a:off x="4496263" y="2618598"/>
            <a:ext cx="43318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zh-CN" altLang="en-US" sz="2400" b="1" spc="300" dirty="0">
                <a:solidFill>
                  <a:schemeClr val="bg1"/>
                </a:solidFill>
                <a:cs typeface="+mn-ea"/>
                <a:sym typeface="+mn-lt"/>
              </a:rPr>
              <a:t>硬件综合训练团队任务</a:t>
            </a:r>
          </a:p>
        </p:txBody>
      </p:sp>
    </p:spTree>
    <p:extLst>
      <p:ext uri="{BB962C8B-B14F-4D97-AF65-F5344CB8AC3E}">
        <p14:creationId xmlns:p14="http://schemas.microsoft.com/office/powerpoint/2010/main" val="220780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25" grpId="0"/>
      <p:bldP spid="2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1475656" y="500358"/>
            <a:ext cx="7668344" cy="4303639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65" name="组合 264"/>
          <p:cNvGrpSpPr/>
          <p:nvPr/>
        </p:nvGrpSpPr>
        <p:grpSpPr>
          <a:xfrm>
            <a:off x="3487799" y="3479286"/>
            <a:ext cx="3326653" cy="468262"/>
            <a:chOff x="865854" y="3479286"/>
            <a:chExt cx="3326653" cy="468262"/>
          </a:xfrm>
        </p:grpSpPr>
        <p:sp>
          <p:nvSpPr>
            <p:cNvPr id="8" name="Diamond 284"/>
            <p:cNvSpPr/>
            <p:nvPr/>
          </p:nvSpPr>
          <p:spPr>
            <a:xfrm>
              <a:off x="865854" y="3479286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05</a:t>
              </a:r>
            </a:p>
          </p:txBody>
        </p:sp>
        <p:sp>
          <p:nvSpPr>
            <p:cNvPr id="26" name="TextBox 302"/>
            <p:cNvSpPr txBox="1"/>
            <p:nvPr/>
          </p:nvSpPr>
          <p:spPr>
            <a:xfrm>
              <a:off x="1220576" y="3627724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团队分工</a:t>
              </a: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3491878" y="2820354"/>
            <a:ext cx="3322574" cy="468262"/>
            <a:chOff x="869933" y="2820354"/>
            <a:chExt cx="3322574" cy="468262"/>
          </a:xfrm>
        </p:grpSpPr>
        <p:sp>
          <p:nvSpPr>
            <p:cNvPr id="10" name="Diamond 286"/>
            <p:cNvSpPr/>
            <p:nvPr/>
          </p:nvSpPr>
          <p:spPr>
            <a:xfrm>
              <a:off x="869933" y="2820354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24" name="TextBox 300"/>
            <p:cNvSpPr txBox="1"/>
            <p:nvPr/>
          </p:nvSpPr>
          <p:spPr>
            <a:xfrm>
              <a:off x="1220576" y="2964469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游玩演示</a:t>
              </a:r>
            </a:p>
          </p:txBody>
        </p:sp>
      </p:grpSp>
      <p:grpSp>
        <p:nvGrpSpPr>
          <p:cNvPr id="263" name="组合 262"/>
          <p:cNvGrpSpPr/>
          <p:nvPr/>
        </p:nvGrpSpPr>
        <p:grpSpPr>
          <a:xfrm>
            <a:off x="3491878" y="2161422"/>
            <a:ext cx="3322575" cy="468262"/>
            <a:chOff x="869933" y="2161422"/>
            <a:chExt cx="3322575" cy="468262"/>
          </a:xfrm>
        </p:grpSpPr>
        <p:sp>
          <p:nvSpPr>
            <p:cNvPr id="12" name="Diamond 288"/>
            <p:cNvSpPr/>
            <p:nvPr/>
          </p:nvSpPr>
          <p:spPr>
            <a:xfrm>
              <a:off x="869933" y="2161422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22" name="TextBox 298"/>
            <p:cNvSpPr txBox="1"/>
            <p:nvPr/>
          </p:nvSpPr>
          <p:spPr>
            <a:xfrm>
              <a:off x="1220577" y="2308740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代码分析</a:t>
              </a:r>
            </a:p>
          </p:txBody>
        </p:sp>
      </p:grpSp>
      <p:grpSp>
        <p:nvGrpSpPr>
          <p:cNvPr id="262" name="组合 261"/>
          <p:cNvGrpSpPr/>
          <p:nvPr/>
        </p:nvGrpSpPr>
        <p:grpSpPr>
          <a:xfrm>
            <a:off x="3491878" y="1502490"/>
            <a:ext cx="3322575" cy="468262"/>
            <a:chOff x="869933" y="1502490"/>
            <a:chExt cx="3322575" cy="468262"/>
          </a:xfrm>
        </p:grpSpPr>
        <p:sp>
          <p:nvSpPr>
            <p:cNvPr id="14" name="Diamond 290"/>
            <p:cNvSpPr/>
            <p:nvPr/>
          </p:nvSpPr>
          <p:spPr>
            <a:xfrm>
              <a:off x="869933" y="1502490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20" name="TextBox 296"/>
            <p:cNvSpPr txBox="1"/>
            <p:nvPr/>
          </p:nvSpPr>
          <p:spPr>
            <a:xfrm>
              <a:off x="1220577" y="1641420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总体设计</a:t>
              </a:r>
            </a:p>
          </p:txBody>
        </p:sp>
      </p:grpSp>
      <p:grpSp>
        <p:nvGrpSpPr>
          <p:cNvPr id="261" name="组合 260"/>
          <p:cNvGrpSpPr/>
          <p:nvPr/>
        </p:nvGrpSpPr>
        <p:grpSpPr>
          <a:xfrm>
            <a:off x="3491880" y="843558"/>
            <a:ext cx="3322573" cy="468262"/>
            <a:chOff x="869935" y="843558"/>
            <a:chExt cx="3322573" cy="468262"/>
          </a:xfrm>
        </p:grpSpPr>
        <p:sp>
          <p:nvSpPr>
            <p:cNvPr id="16" name="Diamond 292"/>
            <p:cNvSpPr/>
            <p:nvPr/>
          </p:nvSpPr>
          <p:spPr>
            <a:xfrm>
              <a:off x="869935" y="843558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18" name="TextBox 294"/>
            <p:cNvSpPr txBox="1"/>
            <p:nvPr/>
          </p:nvSpPr>
          <p:spPr>
            <a:xfrm>
              <a:off x="1220577" y="990876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选题介绍</a:t>
              </a:r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3487799" y="4113327"/>
            <a:ext cx="3326653" cy="468262"/>
            <a:chOff x="865854" y="4113327"/>
            <a:chExt cx="3326653" cy="468262"/>
          </a:xfrm>
        </p:grpSpPr>
        <p:sp>
          <p:nvSpPr>
            <p:cNvPr id="257" name="Diamond 284"/>
            <p:cNvSpPr/>
            <p:nvPr/>
          </p:nvSpPr>
          <p:spPr>
            <a:xfrm>
              <a:off x="865854" y="4113327"/>
              <a:ext cx="468262" cy="468262"/>
            </a:xfrm>
            <a:prstGeom prst="diamond">
              <a:avLst/>
            </a:prstGeom>
            <a:solidFill>
              <a:srgbClr val="0083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06</a:t>
              </a:r>
            </a:p>
          </p:txBody>
        </p:sp>
        <p:sp>
          <p:nvSpPr>
            <p:cNvPr id="259" name="TextBox 302"/>
            <p:cNvSpPr txBox="1"/>
            <p:nvPr/>
          </p:nvSpPr>
          <p:spPr>
            <a:xfrm>
              <a:off x="1220576" y="4256384"/>
              <a:ext cx="2971931" cy="182148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任务总结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0" y="2019612"/>
            <a:ext cx="2987824" cy="1104275"/>
            <a:chOff x="0" y="2019612"/>
            <a:chExt cx="2987824" cy="1104275"/>
          </a:xfrm>
        </p:grpSpPr>
        <p:sp>
          <p:nvSpPr>
            <p:cNvPr id="2" name="矩形 1"/>
            <p:cNvSpPr/>
            <p:nvPr/>
          </p:nvSpPr>
          <p:spPr>
            <a:xfrm>
              <a:off x="0" y="2019612"/>
              <a:ext cx="2987824" cy="1104275"/>
            </a:xfrm>
            <a:prstGeom prst="rect">
              <a:avLst/>
            </a:prstGeom>
            <a:solidFill>
              <a:srgbClr val="0083B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" name="Group 21"/>
            <p:cNvGrpSpPr/>
            <p:nvPr/>
          </p:nvGrpSpPr>
          <p:grpSpPr>
            <a:xfrm>
              <a:off x="971600" y="2229722"/>
              <a:ext cx="1057275" cy="754085"/>
              <a:chOff x="5069886" y="293530"/>
              <a:chExt cx="2052228" cy="1463723"/>
            </a:xfrm>
            <a:noFill/>
          </p:grpSpPr>
          <p:sp>
            <p:nvSpPr>
              <p:cNvPr id="28" name="TextBox 22"/>
              <p:cNvSpPr txBox="1"/>
              <p:nvPr/>
            </p:nvSpPr>
            <p:spPr>
              <a:xfrm>
                <a:off x="5069886" y="293530"/>
                <a:ext cx="2052228" cy="1120147"/>
              </a:xfrm>
              <a:prstGeom prst="rect">
                <a:avLst/>
              </a:prstGeom>
              <a:grpFill/>
            </p:spPr>
            <p:txBody>
              <a:bodyPr wrap="square">
                <a:normAutofit fontScale="77500" lnSpcReduction="20000"/>
              </a:bodyPr>
              <a:lstStyle/>
              <a:p>
                <a:pPr algn="ctr"/>
                <a:r>
                  <a:rPr lang="zh-CN" altLang="en-US" sz="4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目录</a:t>
                </a:r>
              </a:p>
            </p:txBody>
          </p:sp>
          <p:sp>
            <p:nvSpPr>
              <p:cNvPr id="29" name="TextBox 23"/>
              <p:cNvSpPr txBox="1"/>
              <p:nvPr/>
            </p:nvSpPr>
            <p:spPr>
              <a:xfrm>
                <a:off x="5069886" y="1309193"/>
                <a:ext cx="2052228" cy="448060"/>
              </a:xfrm>
              <a:prstGeom prst="rect">
                <a:avLst/>
              </a:prstGeom>
              <a:grpFill/>
            </p:spPr>
            <p:txBody>
              <a:bodyPr wrap="square">
                <a:normAutofit fontScale="77500" lnSpcReduction="20000"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cs typeface="+mn-ea"/>
                    <a:sym typeface="+mn-lt"/>
                  </a:rPr>
                  <a:t>CONTENT</a:t>
                </a:r>
              </a:p>
            </p:txBody>
          </p:sp>
        </p:grp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72" y="307139"/>
            <a:ext cx="1182112" cy="97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0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选题介绍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8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1302609"/>
            <a:ext cx="9144000" cy="253828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752797"/>
            <a:ext cx="3347864" cy="37947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2C394C"/>
                </a:solidFill>
                <a:cs typeface="+mn-ea"/>
                <a:sym typeface="+mn-lt"/>
              </a:rPr>
              <a:t>基于</a:t>
            </a:r>
            <a:r>
              <a:rPr lang="en-US" altLang="zh-CN" b="1" dirty="0">
                <a:solidFill>
                  <a:srgbClr val="2C394C"/>
                </a:solidFill>
                <a:cs typeface="+mn-ea"/>
                <a:sym typeface="+mn-lt"/>
              </a:rPr>
              <a:t>RISC-V</a:t>
            </a:r>
            <a:r>
              <a:rPr lang="zh-CN" altLang="en-US" b="1" dirty="0">
                <a:solidFill>
                  <a:srgbClr val="2C394C"/>
                </a:solidFill>
                <a:cs typeface="+mn-ea"/>
                <a:sym typeface="+mn-lt"/>
              </a:rPr>
              <a:t>的简易迷宫游戏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818583" y="1708579"/>
            <a:ext cx="7506834" cy="1726341"/>
            <a:chOff x="634487" y="2538593"/>
            <a:chExt cx="10009113" cy="2301788"/>
          </a:xfrm>
        </p:grpSpPr>
        <p:grpSp>
          <p:nvGrpSpPr>
            <p:cNvPr id="8" name="组合 7"/>
            <p:cNvGrpSpPr/>
            <p:nvPr/>
          </p:nvGrpSpPr>
          <p:grpSpPr>
            <a:xfrm>
              <a:off x="634487" y="2538593"/>
              <a:ext cx="10009113" cy="2301788"/>
              <a:chOff x="634487" y="2538593"/>
              <a:chExt cx="10009113" cy="2301788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634487" y="2617080"/>
                <a:ext cx="399214" cy="399214"/>
                <a:chOff x="634487" y="2617080"/>
                <a:chExt cx="399214" cy="399214"/>
              </a:xfrm>
            </p:grpSpPr>
            <p:sp>
              <p:nvSpPr>
                <p:cNvPr id="27" name="任意多边形: 形状 26"/>
                <p:cNvSpPr/>
                <p:nvPr/>
              </p:nvSpPr>
              <p:spPr>
                <a:xfrm>
                  <a:off x="634487" y="2617080"/>
                  <a:ext cx="399214" cy="3992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756465" y="2735261"/>
                  <a:ext cx="155257" cy="162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矩形 24"/>
              <p:cNvSpPr/>
              <p:nvPr/>
            </p:nvSpPr>
            <p:spPr>
              <a:xfrm>
                <a:off x="1033700" y="2538593"/>
                <a:ext cx="9609900" cy="556186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受时间影响，放弃大型项目，选择相对简单的迷宫游戏，沿用单周期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+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单级中断电路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4CA7308-EA50-4DBC-9E49-ADB1260DD44B}"/>
                  </a:ext>
                </a:extLst>
              </p:cNvPr>
              <p:cNvSpPr/>
              <p:nvPr/>
            </p:nvSpPr>
            <p:spPr>
              <a:xfrm>
                <a:off x="1033699" y="3367182"/>
                <a:ext cx="9609900" cy="556185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硬件中断扩展至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7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个，用于实现三个关卡以及上下左右移动功能，增加显存用于向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LED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管输出信号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0CA3B2C0-AFA7-47E9-8C84-3FB6A8AAA624}"/>
                  </a:ext>
                </a:extLst>
              </p:cNvPr>
              <p:cNvSpPr/>
              <p:nvPr/>
            </p:nvSpPr>
            <p:spPr>
              <a:xfrm>
                <a:off x="1033699" y="4284194"/>
                <a:ext cx="9609900" cy="556187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基于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28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条基本的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RISC-V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指令编写汇编程序，代码量</a:t>
                </a: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1000+</a:t>
                </a:r>
                <a:r>
                  <a: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行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34487" y="3448609"/>
              <a:ext cx="399213" cy="399215"/>
              <a:chOff x="634487" y="3448608"/>
              <a:chExt cx="399214" cy="399214"/>
            </a:xfrm>
          </p:grpSpPr>
          <p:sp>
            <p:nvSpPr>
              <p:cNvPr id="21" name="任意多边形: 形状 20"/>
              <p:cNvSpPr/>
              <p:nvPr/>
            </p:nvSpPr>
            <p:spPr>
              <a:xfrm>
                <a:off x="634487" y="3448608"/>
                <a:ext cx="399214" cy="399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756465" y="3566789"/>
                <a:ext cx="155258" cy="162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34487" y="4370663"/>
              <a:ext cx="399213" cy="399213"/>
              <a:chOff x="634487" y="4370662"/>
              <a:chExt cx="399214" cy="3992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634487" y="4370662"/>
                <a:ext cx="399214" cy="399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756465" y="4488843"/>
                <a:ext cx="155257" cy="162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373721FE-0BCE-4B26-9E85-1105ED536943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选题介绍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084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总体设计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ADC453-6369-4960-B48F-2A64050D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653743"/>
            <a:ext cx="5010541" cy="260220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16BE44B-81DD-473B-A930-C87C350AE5DE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支持中断的单周期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FC68D8-44BE-4371-ABF9-DCA41C9F7FC5}"/>
              </a:ext>
            </a:extLst>
          </p:cNvPr>
          <p:cNvSpPr txBox="1"/>
          <p:nvPr/>
        </p:nvSpPr>
        <p:spPr>
          <a:xfrm>
            <a:off x="221224" y="1419622"/>
            <a:ext cx="3486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即头歌第一个实验实现的单周期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由于迷宫游戏不需要太高的性能，且为了调试方便，故直接采用了单周期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55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E0A4A2-7AFC-4797-B9A8-1E7B1431C221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中断控制逻辑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8C5FA0-6E58-4ECA-9433-B7CF5728D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491630"/>
            <a:ext cx="5043301" cy="29251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050289-B973-48C1-A66B-3424917F4C77}"/>
              </a:ext>
            </a:extLst>
          </p:cNvPr>
          <p:cNvSpPr txBox="1"/>
          <p:nvPr/>
        </p:nvSpPr>
        <p:spPr>
          <a:xfrm>
            <a:off x="221224" y="1419622"/>
            <a:ext cx="3486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将中断扩展到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个，基于编写的汇编程序更改对应终端地址表以实现需要的功能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个中断处理程序的功能是：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个关卡的选择以及上下左右的移动，关卡之间可随时任意切换，在代码中采用中断互锁保证每一个功能的正常实现</a:t>
            </a:r>
          </a:p>
        </p:txBody>
      </p:sp>
    </p:spTree>
    <p:extLst>
      <p:ext uri="{BB962C8B-B14F-4D97-AF65-F5344CB8AC3E}">
        <p14:creationId xmlns:p14="http://schemas.microsoft.com/office/powerpoint/2010/main" val="427270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194C8C-73F0-478C-B950-969C353492EB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130FB0-4797-4A70-8BC8-A5E747C50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899" y="1589870"/>
            <a:ext cx="5148537" cy="2826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C902A9-139F-4828-A7E5-A67E803541F4}"/>
              </a:ext>
            </a:extLst>
          </p:cNvPr>
          <p:cNvSpPr txBox="1"/>
          <p:nvPr/>
        </p:nvSpPr>
        <p:spPr>
          <a:xfrm>
            <a:off x="221224" y="1419622"/>
            <a:ext cx="34866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用于将代码中的写入内容转换成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管的明暗信号，从而使图案在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屏幕上显示出来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显存由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个寄存器构成。写使能信号由优先编码器从输入的主存地址产生。该部件与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共用时钟和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信号，有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个输出，对应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管（游戏屏幕是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32*32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的大小），保证每个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管都能正常显示。</a:t>
            </a:r>
          </a:p>
        </p:txBody>
      </p:sp>
    </p:spTree>
    <p:extLst>
      <p:ext uri="{BB962C8B-B14F-4D97-AF65-F5344CB8AC3E}">
        <p14:creationId xmlns:p14="http://schemas.microsoft.com/office/powerpoint/2010/main" val="415144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54814A-65E7-4DA3-89A6-561FB049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059582"/>
            <a:ext cx="3910480" cy="39157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交互电路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8782C-7ECC-4649-9412-19D6AE1159C7}"/>
              </a:ext>
            </a:extLst>
          </p:cNvPr>
          <p:cNvSpPr txBox="1"/>
          <p:nvPr/>
        </p:nvSpPr>
        <p:spPr>
          <a:xfrm>
            <a:off x="221224" y="1419622"/>
            <a:ext cx="3486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玩游戏的电路，有上下左右以及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个关卡共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个按钮，对应相关功能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中间的核心组件即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，重置和时钟信号从外界输入，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个输出端口（对应显存）向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32*32LED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管输出显示信号</a:t>
            </a:r>
          </a:p>
        </p:txBody>
      </p:sp>
    </p:spTree>
    <p:extLst>
      <p:ext uri="{BB962C8B-B14F-4D97-AF65-F5344CB8AC3E}">
        <p14:creationId xmlns:p14="http://schemas.microsoft.com/office/powerpoint/2010/main" val="412664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关卡及开始界面设计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8782C-7ECC-4649-9412-19D6AE1159C7}"/>
              </a:ext>
            </a:extLst>
          </p:cNvPr>
          <p:cNvSpPr txBox="1"/>
          <p:nvPr/>
        </p:nvSpPr>
        <p:spPr>
          <a:xfrm>
            <a:off x="221224" y="1419622"/>
            <a:ext cx="3486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表格中设计图案，亮的方格为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，不亮的方格为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将每列的显示情况转换为一串十六进制码，通过汇编代码实现写入（具体请参考“代码分析”章节）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5A919D-4CED-4494-ADDB-5A5760BE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131590"/>
            <a:ext cx="367240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5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代码分析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2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A8AA44-0789-4361-BC0D-DDB982CAA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57" y="699542"/>
            <a:ext cx="9144000" cy="451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0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开始界面加载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8782C-7ECC-4649-9412-19D6AE1159C7}"/>
              </a:ext>
            </a:extLst>
          </p:cNvPr>
          <p:cNvSpPr txBox="1"/>
          <p:nvPr/>
        </p:nvSpPr>
        <p:spPr>
          <a:xfrm>
            <a:off x="221224" y="1419622"/>
            <a:ext cx="3486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RISC-V32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体系常量的位数限制，最多只能一次性表示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位有符号常量，如果想要给一个寄存器赋超过此位数的值，则需要分若干步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注释“列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”对应的是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屏幕中第一列的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管，将明暗信号转换成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进制编码后存入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指令载入主存，同时通过显存使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A6AA42-2FFE-4870-8D9C-306BF10AAC2C}"/>
              </a:ext>
            </a:extLst>
          </p:cNvPr>
          <p:cNvSpPr txBox="1"/>
          <p:nvPr/>
        </p:nvSpPr>
        <p:spPr>
          <a:xfrm>
            <a:off x="4067944" y="1232113"/>
            <a:ext cx="49685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 </a:t>
            </a:r>
            <a:r>
              <a:rPr lang="zh-CN" altLang="en-US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列</a:t>
            </a:r>
            <a:r>
              <a:rPr lang="en-US" altLang="zh-CN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</a:t>
            </a:r>
            <a:endParaRPr lang="zh-CN" altLang="en-US" sz="2000" dirty="0">
              <a:solidFill>
                <a:srgbClr val="FFFF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ori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t0,zero,0xff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slli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t0,t0,8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ori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t0,t0,0xff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slli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t0,t0,8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ori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t0,t0,0xff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slli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t0,t0,8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ori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t0,t0,0xff</a:t>
            </a:r>
          </a:p>
          <a:p>
            <a:r>
              <a:rPr lang="en-US" altLang="zh-CN" sz="2000" i="0" dirty="0" err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sw</a:t>
            </a:r>
            <a:r>
              <a:rPr lang="en-US" altLang="zh-CN" sz="2000" i="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t0,0(zero)	</a:t>
            </a:r>
            <a:r>
              <a:rPr lang="en-US" altLang="zh-CN" sz="2000" i="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 </a:t>
            </a:r>
            <a:r>
              <a:rPr lang="zh-CN" altLang="en-US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注意：由于主存用的是字地址，所以在汇编代码中的地址也要乘</a:t>
            </a:r>
            <a:r>
              <a:rPr lang="en-US" altLang="zh-CN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zh-CN" altLang="en-US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（列</a:t>
            </a:r>
            <a:r>
              <a:rPr lang="en-US" altLang="zh-CN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数码管就用</a:t>
            </a:r>
            <a:r>
              <a:rPr lang="en-US" altLang="zh-CN" sz="2000" dirty="0" err="1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sw</a:t>
            </a:r>
            <a:r>
              <a:rPr lang="en-US" altLang="zh-CN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t0,4(zero)</a:t>
            </a:r>
            <a:r>
              <a:rPr lang="zh-CN" altLang="en-US" sz="2000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写入）</a:t>
            </a:r>
          </a:p>
        </p:txBody>
      </p:sp>
    </p:spTree>
    <p:extLst>
      <p:ext uri="{BB962C8B-B14F-4D97-AF65-F5344CB8AC3E}">
        <p14:creationId xmlns:p14="http://schemas.microsoft.com/office/powerpoint/2010/main" val="50334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355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游戏界面加载（以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8782C-7ECC-4649-9412-19D6AE1159C7}"/>
              </a:ext>
            </a:extLst>
          </p:cNvPr>
          <p:cNvSpPr txBox="1"/>
          <p:nvPr/>
        </p:nvSpPr>
        <p:spPr>
          <a:xfrm>
            <a:off x="221224" y="1419622"/>
            <a:ext cx="34866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游戏界面是在中断程序中加载的，按下关卡按钮触发对应中断，利用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寄存器实现锁中断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寄存器代表可移动小方块的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坐标，进入关卡时初始化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屏幕的显示逻辑与加载开始页面时无异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A6AA42-2FFE-4870-8D9C-306BF10AAC2C}"/>
              </a:ext>
            </a:extLst>
          </p:cNvPr>
          <p:cNvSpPr txBox="1"/>
          <p:nvPr/>
        </p:nvSpPr>
        <p:spPr>
          <a:xfrm>
            <a:off x="3972985" y="868499"/>
            <a:ext cx="496855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i="1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r>
              <a:rPr lang="en-US" altLang="zh-CN" sz="1800" i="0" dirty="0"/>
              <a:t>level1:</a:t>
            </a:r>
          </a:p>
          <a:p>
            <a:r>
              <a:rPr lang="en-US" altLang="zh-CN" sz="1800" i="0" dirty="0" err="1"/>
              <a:t>beq</a:t>
            </a:r>
            <a:r>
              <a:rPr lang="en-US" altLang="zh-CN" sz="1800" i="0" dirty="0"/>
              <a:t> s2, zero, level1_closed </a:t>
            </a:r>
          </a:p>
          <a:p>
            <a:r>
              <a:rPr lang="en-US" altLang="zh-CN" sz="1800" i="0" dirty="0">
                <a:solidFill>
                  <a:srgbClr val="FFFF00"/>
                </a:solidFill>
              </a:rPr>
              <a:t># s2 = 0</a:t>
            </a:r>
            <a:r>
              <a:rPr lang="zh-CN" altLang="en-US" sz="1800" i="0" dirty="0">
                <a:solidFill>
                  <a:srgbClr val="FFFF00"/>
                </a:solidFill>
              </a:rPr>
              <a:t>时，跳转到</a:t>
            </a:r>
            <a:r>
              <a:rPr lang="en-US" altLang="zh-CN" sz="1800" i="0" dirty="0" err="1">
                <a:solidFill>
                  <a:srgbClr val="FFFF00"/>
                </a:solidFill>
              </a:rPr>
              <a:t>level_closed</a:t>
            </a:r>
            <a:endParaRPr lang="en-US" altLang="zh-CN" sz="1800" i="0" dirty="0">
              <a:solidFill>
                <a:srgbClr val="FFFF00"/>
              </a:solidFill>
            </a:endParaRPr>
          </a:p>
          <a:p>
            <a:r>
              <a:rPr lang="en-US" altLang="zh-CN" sz="1800" i="0" dirty="0">
                <a:solidFill>
                  <a:srgbClr val="FFFF00"/>
                </a:solidFill>
              </a:rPr>
              <a:t># </a:t>
            </a:r>
            <a:r>
              <a:rPr lang="zh-CN" altLang="en-US" sz="1800" i="0" dirty="0">
                <a:solidFill>
                  <a:srgbClr val="FFFF00"/>
                </a:solidFill>
              </a:rPr>
              <a:t>由于硬件只支持单级中断，所以</a:t>
            </a:r>
            <a:r>
              <a:rPr lang="en-US" altLang="zh-CN" sz="1800" i="0" dirty="0">
                <a:solidFill>
                  <a:srgbClr val="FFFF00"/>
                </a:solidFill>
              </a:rPr>
              <a:t>level1</a:t>
            </a:r>
            <a:r>
              <a:rPr lang="zh-CN" altLang="en-US" sz="1800" i="0" dirty="0">
                <a:solidFill>
                  <a:srgbClr val="FFFF00"/>
                </a:solidFill>
              </a:rPr>
              <a:t>运行结束之前其他中断程序不会执行，所以在</a:t>
            </a:r>
            <a:r>
              <a:rPr lang="en-US" altLang="zh-CN" sz="1800" i="0" dirty="0">
                <a:solidFill>
                  <a:srgbClr val="FFFF00"/>
                </a:solidFill>
              </a:rPr>
              <a:t>level1</a:t>
            </a:r>
            <a:r>
              <a:rPr lang="zh-CN" altLang="en-US" sz="1800" i="0" dirty="0">
                <a:solidFill>
                  <a:srgbClr val="FFFF00"/>
                </a:solidFill>
              </a:rPr>
              <a:t>中给</a:t>
            </a:r>
            <a:r>
              <a:rPr lang="en-US" altLang="zh-CN" sz="1800" i="0" dirty="0">
                <a:solidFill>
                  <a:srgbClr val="FFFF00"/>
                </a:solidFill>
              </a:rPr>
              <a:t>s2</a:t>
            </a:r>
            <a:r>
              <a:rPr lang="zh-CN" altLang="en-US" sz="1800" i="0" dirty="0">
                <a:solidFill>
                  <a:srgbClr val="FFFF00"/>
                </a:solidFill>
              </a:rPr>
              <a:t>赋</a:t>
            </a:r>
            <a:r>
              <a:rPr lang="en-US" altLang="zh-CN" sz="1800" i="0" dirty="0">
                <a:solidFill>
                  <a:srgbClr val="FFFF00"/>
                </a:solidFill>
              </a:rPr>
              <a:t>1</a:t>
            </a:r>
            <a:r>
              <a:rPr lang="zh-CN" altLang="en-US" sz="1800" i="0" dirty="0">
                <a:solidFill>
                  <a:srgbClr val="FFFF00"/>
                </a:solidFill>
              </a:rPr>
              <a:t>是非必须的</a:t>
            </a:r>
            <a:endParaRPr lang="en-US" altLang="zh-CN" sz="1800" i="0" dirty="0">
              <a:solidFill>
                <a:srgbClr val="FFFF00"/>
              </a:solidFill>
            </a:endParaRPr>
          </a:p>
          <a:p>
            <a:r>
              <a:rPr lang="en-US" altLang="zh-CN" sz="1800" i="0" dirty="0" err="1"/>
              <a:t>addi</a:t>
            </a:r>
            <a:r>
              <a:rPr lang="en-US" altLang="zh-CN" sz="1800" i="0" dirty="0"/>
              <a:t> s0,zero,0     </a:t>
            </a:r>
            <a:r>
              <a:rPr lang="en-US" altLang="zh-CN" sz="1800" i="0" dirty="0">
                <a:solidFill>
                  <a:srgbClr val="FFFF00"/>
                </a:solidFill>
              </a:rPr>
              <a:t>#</a:t>
            </a:r>
            <a:r>
              <a:rPr lang="zh-CN" altLang="en-US" sz="1800" i="0" dirty="0">
                <a:solidFill>
                  <a:srgbClr val="FFFF00"/>
                </a:solidFill>
              </a:rPr>
              <a:t>初始化</a:t>
            </a:r>
            <a:r>
              <a:rPr lang="en-US" altLang="zh-CN" sz="1800" i="0" dirty="0">
                <a:solidFill>
                  <a:srgbClr val="FFFF00"/>
                </a:solidFill>
              </a:rPr>
              <a:t>x</a:t>
            </a:r>
            <a:r>
              <a:rPr lang="zh-CN" altLang="en-US" sz="1800" i="0" dirty="0">
                <a:solidFill>
                  <a:srgbClr val="FFFF00"/>
                </a:solidFill>
              </a:rPr>
              <a:t>、</a:t>
            </a:r>
            <a:r>
              <a:rPr lang="en-US" altLang="zh-CN" sz="1800" i="0" dirty="0">
                <a:solidFill>
                  <a:srgbClr val="FFFF00"/>
                </a:solidFill>
              </a:rPr>
              <a:t>y</a:t>
            </a:r>
          </a:p>
          <a:p>
            <a:r>
              <a:rPr lang="en-US" altLang="zh-CN" sz="1800" i="0" dirty="0" err="1"/>
              <a:t>addi</a:t>
            </a:r>
            <a:r>
              <a:rPr lang="en-US" altLang="zh-CN" sz="1800" i="0" dirty="0"/>
              <a:t> s1,zero,0</a:t>
            </a:r>
          </a:p>
          <a:p>
            <a:r>
              <a:rPr lang="en-US" altLang="zh-CN" sz="1800" i="0" dirty="0">
                <a:solidFill>
                  <a:srgbClr val="FFFF00"/>
                </a:solidFill>
              </a:rPr>
              <a:t># </a:t>
            </a:r>
            <a:r>
              <a:rPr lang="zh-CN" altLang="en-US" sz="1800" i="0" dirty="0">
                <a:solidFill>
                  <a:srgbClr val="FFFF00"/>
                </a:solidFill>
              </a:rPr>
              <a:t>列</a:t>
            </a:r>
            <a:r>
              <a:rPr lang="en-US" altLang="zh-CN" sz="1800" i="0" dirty="0">
                <a:solidFill>
                  <a:srgbClr val="FFFF00"/>
                </a:solidFill>
              </a:rPr>
              <a:t>0</a:t>
            </a:r>
            <a:endParaRPr lang="zh-CN" altLang="en-US" sz="1800" i="0" dirty="0">
              <a:solidFill>
                <a:srgbClr val="FFFF00"/>
              </a:solidFill>
            </a:endParaRPr>
          </a:p>
          <a:p>
            <a:r>
              <a:rPr lang="en-US" altLang="zh-CN" sz="1800" i="0" dirty="0" err="1"/>
              <a:t>ori</a:t>
            </a:r>
            <a:r>
              <a:rPr lang="en-US" altLang="zh-CN" sz="1800" i="0" dirty="0"/>
              <a:t> t0,zero,0x000</a:t>
            </a:r>
          </a:p>
          <a:p>
            <a:r>
              <a:rPr lang="en-US" altLang="zh-CN" sz="1800" i="0" dirty="0" err="1"/>
              <a:t>slli</a:t>
            </a:r>
            <a:r>
              <a:rPr lang="en-US" altLang="zh-CN" sz="1800" i="0" dirty="0"/>
              <a:t> t0,t0,12</a:t>
            </a:r>
          </a:p>
          <a:p>
            <a:r>
              <a:rPr lang="en-US" altLang="zh-CN" sz="1800" i="0" dirty="0" err="1"/>
              <a:t>ori</a:t>
            </a:r>
            <a:r>
              <a:rPr lang="en-US" altLang="zh-CN" sz="1800" i="0" dirty="0"/>
              <a:t> t0,t0,0x002</a:t>
            </a:r>
          </a:p>
          <a:p>
            <a:r>
              <a:rPr lang="en-US" altLang="zh-CN" sz="1800" i="0" dirty="0" err="1"/>
              <a:t>slli</a:t>
            </a:r>
            <a:r>
              <a:rPr lang="en-US" altLang="zh-CN" sz="1800" i="0" dirty="0"/>
              <a:t> t0,t0,8</a:t>
            </a:r>
          </a:p>
          <a:p>
            <a:r>
              <a:rPr lang="en-US" altLang="zh-CN" sz="1800" i="0" dirty="0" err="1"/>
              <a:t>ori</a:t>
            </a:r>
            <a:r>
              <a:rPr lang="en-US" altLang="zh-CN" sz="1800" i="0" dirty="0"/>
              <a:t> t0,t0,0x01</a:t>
            </a:r>
          </a:p>
          <a:p>
            <a:r>
              <a:rPr lang="en-US" altLang="zh-CN" sz="1800" i="0" dirty="0" err="1"/>
              <a:t>sw</a:t>
            </a:r>
            <a:r>
              <a:rPr lang="en-US" altLang="zh-CN" sz="1800" i="0" dirty="0"/>
              <a:t> t0,0(zero)</a:t>
            </a:r>
            <a:endParaRPr lang="zh-CN" altLang="en-US" sz="1800" i="0" dirty="0"/>
          </a:p>
        </p:txBody>
      </p:sp>
    </p:spTree>
    <p:extLst>
      <p:ext uri="{BB962C8B-B14F-4D97-AF65-F5344CB8AC3E}">
        <p14:creationId xmlns:p14="http://schemas.microsoft.com/office/powerpoint/2010/main" val="179317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5526" y="862781"/>
            <a:ext cx="5297284" cy="4280720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移动功能的实现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8782C-7ECC-4649-9412-19D6AE1159C7}"/>
              </a:ext>
            </a:extLst>
          </p:cNvPr>
          <p:cNvSpPr txBox="1"/>
          <p:nvPr/>
        </p:nvSpPr>
        <p:spPr>
          <a:xfrm>
            <a:off x="221224" y="1419622"/>
            <a:ext cx="3486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首先依然使用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寄存器进行锁中断，防止加载开始界面时误入中断程序造成界面显示异常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移动指令需要对“目标地址是否为墙（可区分边界和非边界）”和“是否到达终点”做出判断，见下一页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1768C4-7B84-4676-AE85-C0496F227EBC}"/>
              </a:ext>
            </a:extLst>
          </p:cNvPr>
          <p:cNvSpPr txBox="1"/>
          <p:nvPr/>
        </p:nvSpPr>
        <p:spPr>
          <a:xfrm>
            <a:off x="3846716" y="843260"/>
            <a:ext cx="52972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r>
              <a:rPr lang="en-US" altLang="zh-CN" dirty="0">
                <a:solidFill>
                  <a:srgbClr val="FFFF00"/>
                </a:solidFill>
              </a:rPr>
              <a:t># </a:t>
            </a:r>
            <a:r>
              <a:rPr lang="zh-CN" altLang="en-US" dirty="0">
                <a:solidFill>
                  <a:srgbClr val="FFFF00"/>
                </a:solidFill>
              </a:rPr>
              <a:t>左移</a:t>
            </a:r>
          </a:p>
          <a:p>
            <a:r>
              <a:rPr lang="en-US" altLang="zh-CN" dirty="0" err="1"/>
              <a:t>int_left</a:t>
            </a:r>
            <a:r>
              <a:rPr lang="en-US" altLang="zh-CN" dirty="0"/>
              <a:t>:</a:t>
            </a:r>
          </a:p>
          <a:p>
            <a:r>
              <a:rPr lang="en-US" altLang="zh-CN" dirty="0" err="1"/>
              <a:t>beq</a:t>
            </a:r>
            <a:r>
              <a:rPr lang="en-US" altLang="zh-CN" dirty="0"/>
              <a:t> s2, zero, </a:t>
            </a:r>
            <a:r>
              <a:rPr lang="en-US" altLang="zh-CN" dirty="0" err="1"/>
              <a:t>left_closed</a:t>
            </a:r>
            <a:r>
              <a:rPr lang="en-US" altLang="zh-CN" dirty="0"/>
              <a:t>  </a:t>
            </a:r>
          </a:p>
          <a:p>
            <a:endParaRPr lang="zh-CN" altLang="en-US" dirty="0"/>
          </a:p>
          <a:p>
            <a:r>
              <a:rPr lang="en-US" altLang="zh-CN" dirty="0">
                <a:solidFill>
                  <a:srgbClr val="FFFF00"/>
                </a:solidFill>
              </a:rPr>
              <a:t># </a:t>
            </a:r>
            <a:r>
              <a:rPr lang="zh-CN" altLang="en-US" dirty="0">
                <a:solidFill>
                  <a:srgbClr val="FFFF00"/>
                </a:solidFill>
              </a:rPr>
              <a:t>判断是否到达边界，左移只需要用</a:t>
            </a:r>
            <a:r>
              <a:rPr lang="en-US" altLang="zh-CN" dirty="0">
                <a:solidFill>
                  <a:srgbClr val="FFFF00"/>
                </a:solidFill>
              </a:rPr>
              <a:t>x</a:t>
            </a:r>
            <a:r>
              <a:rPr lang="zh-CN" altLang="en-US" dirty="0">
                <a:solidFill>
                  <a:srgbClr val="FFFF00"/>
                </a:solidFill>
              </a:rPr>
              <a:t>和</a:t>
            </a:r>
            <a:r>
              <a:rPr lang="en-US" altLang="zh-CN" dirty="0">
                <a:solidFill>
                  <a:srgbClr val="FFFF00"/>
                </a:solidFill>
              </a:rPr>
              <a:t>0</a:t>
            </a:r>
            <a:r>
              <a:rPr lang="zh-CN" altLang="en-US" dirty="0">
                <a:solidFill>
                  <a:srgbClr val="FFFF00"/>
                </a:solidFill>
              </a:rPr>
              <a:t>比较</a:t>
            </a:r>
          </a:p>
          <a:p>
            <a:r>
              <a:rPr lang="en-US" altLang="zh-CN" dirty="0" err="1"/>
              <a:t>beq</a:t>
            </a:r>
            <a:r>
              <a:rPr lang="en-US" altLang="zh-CN" dirty="0"/>
              <a:t> s0, zero, border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FF00"/>
                </a:solidFill>
              </a:rPr>
              <a:t># </a:t>
            </a:r>
            <a:r>
              <a:rPr lang="zh-CN" altLang="en-US" dirty="0">
                <a:solidFill>
                  <a:srgbClr val="FFFF00"/>
                </a:solidFill>
              </a:rPr>
              <a:t>判断目标位置是否是墙（非边界）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FF00"/>
                </a:solidFill>
              </a:rPr>
              <a:t># </a:t>
            </a:r>
            <a:r>
              <a:rPr lang="zh-CN" altLang="en-US" dirty="0">
                <a:solidFill>
                  <a:srgbClr val="FFFF00"/>
                </a:solidFill>
              </a:rPr>
              <a:t>如果目标位置合法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FF00"/>
                </a:solidFill>
              </a:rPr>
              <a:t># </a:t>
            </a:r>
            <a:r>
              <a:rPr lang="zh-CN" altLang="en-US" dirty="0">
                <a:solidFill>
                  <a:srgbClr val="FFFF00"/>
                </a:solidFill>
              </a:rPr>
              <a:t>是否到达终点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68150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47613"/>
            <a:ext cx="9142810" cy="3795887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移动功能的实现（续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006D68-8B61-46D7-90DF-15EE6102542C}"/>
              </a:ext>
            </a:extLst>
          </p:cNvPr>
          <p:cNvSpPr txBox="1"/>
          <p:nvPr/>
        </p:nvSpPr>
        <p:spPr>
          <a:xfrm>
            <a:off x="107504" y="1918269"/>
            <a:ext cx="8701552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r>
              <a:rPr lang="en-US" altLang="zh-CN" dirty="0"/>
              <a:t># </a:t>
            </a:r>
            <a:r>
              <a:rPr lang="zh-CN" altLang="en-US" dirty="0"/>
              <a:t>判断左侧是否是墙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addi</a:t>
            </a:r>
            <a:r>
              <a:rPr lang="en-US" altLang="zh-CN" dirty="0">
                <a:solidFill>
                  <a:schemeClr val="bg1"/>
                </a:solidFill>
              </a:rPr>
              <a:t> t1, zero, 1   </a:t>
            </a:r>
            <a:r>
              <a:rPr lang="en-US" altLang="zh-CN" dirty="0"/>
              <a:t># </a:t>
            </a:r>
            <a:r>
              <a:rPr lang="zh-CN" altLang="en-US" dirty="0"/>
              <a:t>生成一个存在</a:t>
            </a:r>
            <a:r>
              <a:rPr lang="en-US" altLang="zh-CN" dirty="0"/>
              <a:t>t1</a:t>
            </a:r>
            <a:r>
              <a:rPr lang="zh-CN" altLang="en-US" dirty="0"/>
              <a:t>中的</a:t>
            </a:r>
            <a:r>
              <a:rPr lang="en-US" altLang="zh-CN" dirty="0"/>
              <a:t>1</a:t>
            </a:r>
            <a:r>
              <a:rPr lang="zh-CN" altLang="en-US" dirty="0"/>
              <a:t>，用于左移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sub t2, s0, t1     </a:t>
            </a:r>
            <a:r>
              <a:rPr lang="en-US" altLang="zh-CN" dirty="0"/>
              <a:t># t2 = s0 - 1 </a:t>
            </a:r>
            <a:r>
              <a:rPr lang="zh-CN" altLang="en-US" dirty="0"/>
              <a:t>记录下一步的</a:t>
            </a:r>
            <a:r>
              <a:rPr lang="en-US" altLang="zh-CN" dirty="0"/>
              <a:t>x</a:t>
            </a:r>
          </a:p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1"/>
                </a:solidFill>
              </a:rPr>
              <a:t>slli</a:t>
            </a:r>
            <a:r>
              <a:rPr lang="en-US" altLang="zh-CN" dirty="0">
                <a:solidFill>
                  <a:schemeClr val="bg1"/>
                </a:solidFill>
              </a:rPr>
              <a:t> t3, t2, 2     </a:t>
            </a:r>
            <a:r>
              <a:rPr lang="en-US" altLang="zh-CN" dirty="0"/>
              <a:t># </a:t>
            </a:r>
            <a:r>
              <a:rPr lang="zh-CN" altLang="en-US" dirty="0"/>
              <a:t>下一步的</a:t>
            </a:r>
            <a:r>
              <a:rPr lang="en-US" altLang="zh-CN" dirty="0"/>
              <a:t>x</a:t>
            </a:r>
            <a:r>
              <a:rPr lang="zh-CN" altLang="en-US" dirty="0"/>
              <a:t>左移两位（也就是*</a:t>
            </a:r>
            <a:r>
              <a:rPr lang="en-US" altLang="zh-CN" dirty="0"/>
              <a:t>4</a:t>
            </a:r>
            <a:r>
              <a:rPr lang="zh-CN" altLang="en-US" dirty="0"/>
              <a:t>）得到</a:t>
            </a:r>
            <a:r>
              <a:rPr lang="en-US" altLang="zh-CN" dirty="0"/>
              <a:t>LED</a:t>
            </a:r>
            <a:r>
              <a:rPr lang="zh-CN" altLang="en-US" dirty="0"/>
              <a:t>管的列地址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lw</a:t>
            </a:r>
            <a:r>
              <a:rPr lang="en-US" altLang="zh-CN" dirty="0">
                <a:solidFill>
                  <a:schemeClr val="bg1"/>
                </a:solidFill>
              </a:rPr>
              <a:t> t4, 0(t3)       </a:t>
            </a:r>
            <a:r>
              <a:rPr lang="en-US" altLang="zh-CN" dirty="0"/>
              <a:t># t4 </a:t>
            </a:r>
            <a:r>
              <a:rPr lang="zh-CN" altLang="en-US" dirty="0"/>
              <a:t>从内存中取出该列的墙壁数据 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sll</a:t>
            </a:r>
            <a:r>
              <a:rPr lang="en-US" altLang="zh-CN" dirty="0">
                <a:solidFill>
                  <a:schemeClr val="bg1"/>
                </a:solidFill>
              </a:rPr>
              <a:t> t5, t1, s1     </a:t>
            </a:r>
            <a:r>
              <a:rPr lang="en-US" altLang="zh-CN" dirty="0"/>
              <a:t># </a:t>
            </a:r>
            <a:r>
              <a:rPr lang="zh-CN" altLang="en-US" dirty="0"/>
              <a:t>将一个</a:t>
            </a:r>
            <a:r>
              <a:rPr lang="en-US" altLang="zh-CN" dirty="0"/>
              <a:t>1</a:t>
            </a:r>
            <a:r>
              <a:rPr lang="zh-CN" altLang="en-US" dirty="0"/>
              <a:t>左移</a:t>
            </a:r>
            <a:r>
              <a:rPr lang="en-US" altLang="zh-CN" dirty="0"/>
              <a:t>Y</a:t>
            </a:r>
            <a:r>
              <a:rPr lang="zh-CN" altLang="en-US" dirty="0"/>
              <a:t>（</a:t>
            </a:r>
            <a:r>
              <a:rPr lang="en-US" altLang="zh-CN" dirty="0"/>
              <a:t>s1</a:t>
            </a:r>
            <a:r>
              <a:rPr lang="zh-CN" altLang="en-US" dirty="0"/>
              <a:t>）位，生成假设成功移动后小方块的位置（</a:t>
            </a:r>
            <a:r>
              <a:rPr lang="en-US" altLang="zh-CN" dirty="0"/>
              <a:t>y</a:t>
            </a:r>
            <a:r>
              <a:rPr lang="zh-CN" altLang="en-US" dirty="0"/>
              <a:t>轴位置）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and t6, t5, t4     </a:t>
            </a:r>
            <a:r>
              <a:rPr lang="en-US" altLang="zh-CN" dirty="0"/>
              <a:t># </a:t>
            </a:r>
            <a:r>
              <a:rPr lang="zh-CN" altLang="en-US" dirty="0"/>
              <a:t>未来的位置和障碍物的值相与，看是否为</a:t>
            </a:r>
            <a:r>
              <a:rPr lang="en-US" altLang="zh-CN" dirty="0"/>
              <a:t>0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bne</a:t>
            </a:r>
            <a:r>
              <a:rPr lang="en-US" altLang="zh-CN" dirty="0">
                <a:solidFill>
                  <a:schemeClr val="bg1"/>
                </a:solidFill>
              </a:rPr>
              <a:t> t6, zero, wall </a:t>
            </a:r>
            <a:r>
              <a:rPr lang="en-US" altLang="zh-CN" dirty="0"/>
              <a:t># </a:t>
            </a:r>
            <a:r>
              <a:rPr lang="zh-CN" altLang="en-US" dirty="0"/>
              <a:t>若不为</a:t>
            </a:r>
            <a:r>
              <a:rPr lang="en-US" altLang="zh-CN" dirty="0"/>
              <a:t>0</a:t>
            </a:r>
            <a:r>
              <a:rPr lang="zh-CN" altLang="en-US" dirty="0"/>
              <a:t>，则说明冲突（未来位置和墙重合），跳转到</a:t>
            </a:r>
            <a:r>
              <a:rPr lang="en-US" altLang="zh-CN" dirty="0"/>
              <a:t>wall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499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47613"/>
            <a:ext cx="9142810" cy="3795887"/>
          </a:xfrm>
          <a:prstGeom prst="rect">
            <a:avLst/>
          </a:prstGeom>
          <a:solidFill>
            <a:srgbClr val="2C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A219B-DCF7-4B20-B8D9-E7AEC4078D62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代码分析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A77DCF-4A5F-4B74-AE50-22ECE9FB9A40}"/>
              </a:ext>
            </a:extLst>
          </p:cNvPr>
          <p:cNvSpPr txBox="1"/>
          <p:nvPr/>
        </p:nvSpPr>
        <p:spPr>
          <a:xfrm>
            <a:off x="221224" y="86278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移动功能的实现（续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8D69D1-23FC-46D1-BCFF-1B5CD6833704}"/>
              </a:ext>
            </a:extLst>
          </p:cNvPr>
          <p:cNvSpPr txBox="1"/>
          <p:nvPr/>
        </p:nvSpPr>
        <p:spPr>
          <a:xfrm>
            <a:off x="0" y="1347613"/>
            <a:ext cx="88152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r>
              <a:rPr lang="en-US" altLang="zh-CN" sz="1600" dirty="0"/>
              <a:t># </a:t>
            </a:r>
            <a:r>
              <a:rPr lang="zh-CN" altLang="en-US" sz="1600" dirty="0"/>
              <a:t>如果合法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sub s0, s0, t1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更新</a:t>
            </a:r>
            <a:r>
              <a:rPr lang="en-US" altLang="zh-CN" sz="1600" dirty="0"/>
              <a:t>x</a:t>
            </a:r>
            <a:r>
              <a:rPr lang="zh-CN" altLang="en-US" sz="1600" dirty="0"/>
              <a:t>，</a:t>
            </a:r>
            <a:r>
              <a:rPr lang="en-US" altLang="zh-CN" sz="1600" dirty="0"/>
              <a:t>x -= 1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or t4, t4, t5 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未来的位置和</a:t>
            </a:r>
            <a:r>
              <a:rPr lang="en-US" altLang="zh-CN" sz="1600" dirty="0"/>
              <a:t>LED</a:t>
            </a:r>
            <a:r>
              <a:rPr lang="zh-CN" altLang="en-US" sz="1600" dirty="0"/>
              <a:t>相或，更新显示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sw</a:t>
            </a:r>
            <a:r>
              <a:rPr lang="en-US" altLang="zh-CN" sz="1600" dirty="0">
                <a:solidFill>
                  <a:schemeClr val="bg1"/>
                </a:solidFill>
              </a:rPr>
              <a:t> t4,0(t3)  </a:t>
            </a:r>
            <a:r>
              <a:rPr lang="en-US" altLang="zh-CN" sz="1600" dirty="0"/>
              <a:t>	      # </a:t>
            </a:r>
            <a:r>
              <a:rPr lang="zh-CN" altLang="en-US" sz="1600" dirty="0"/>
              <a:t>存入未来的</a:t>
            </a:r>
            <a:r>
              <a:rPr lang="en-US" altLang="zh-CN" sz="1600" dirty="0"/>
              <a:t>LED</a:t>
            </a:r>
            <a:r>
              <a:rPr lang="zh-CN" altLang="en-US" sz="1600" dirty="0"/>
              <a:t>位置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addi</a:t>
            </a:r>
            <a:r>
              <a:rPr lang="en-US" altLang="zh-CN" sz="1600" dirty="0">
                <a:solidFill>
                  <a:schemeClr val="bg1"/>
                </a:solidFill>
              </a:rPr>
              <a:t> t3, t3, 4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找回原来位置的</a:t>
            </a:r>
            <a:r>
              <a:rPr lang="en-US" altLang="zh-CN" sz="1600" dirty="0"/>
              <a:t>LED</a:t>
            </a:r>
            <a:r>
              <a:rPr lang="zh-CN" altLang="en-US" sz="1600" dirty="0"/>
              <a:t>列地址 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lw</a:t>
            </a:r>
            <a:r>
              <a:rPr lang="en-US" altLang="zh-CN" sz="1600" dirty="0">
                <a:solidFill>
                  <a:schemeClr val="bg1"/>
                </a:solidFill>
              </a:rPr>
              <a:t> t4,0(t3)   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将原来列的显示数据加载进</a:t>
            </a:r>
            <a:r>
              <a:rPr lang="en-US" altLang="zh-CN" sz="1600" dirty="0"/>
              <a:t>t4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sub t4, t4, t5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删除原位置的显示数据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sw</a:t>
            </a:r>
            <a:r>
              <a:rPr lang="en-US" altLang="zh-CN" sz="1600" dirty="0">
                <a:solidFill>
                  <a:schemeClr val="bg1"/>
                </a:solidFill>
              </a:rPr>
              <a:t> t4,0(t3)           </a:t>
            </a:r>
            <a:r>
              <a:rPr lang="en-US" altLang="zh-CN" sz="1600" dirty="0"/>
              <a:t># </a:t>
            </a:r>
            <a:r>
              <a:rPr lang="zh-CN" altLang="en-US" sz="1600" dirty="0"/>
              <a:t>将删去原位置的</a:t>
            </a:r>
            <a:r>
              <a:rPr lang="en-US" altLang="zh-CN" sz="1600" dirty="0"/>
              <a:t>LED</a:t>
            </a:r>
            <a:r>
              <a:rPr lang="zh-CN" altLang="en-US" sz="1600" dirty="0"/>
              <a:t>数据保存回去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ecall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/>
              <a:t>                # </a:t>
            </a:r>
            <a:r>
              <a:rPr lang="zh-CN" altLang="en-US" sz="1600" dirty="0"/>
              <a:t>展示显存</a:t>
            </a:r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是否到达终点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addi</a:t>
            </a:r>
            <a:r>
              <a:rPr lang="en-US" altLang="zh-CN" sz="1600" dirty="0">
                <a:solidFill>
                  <a:schemeClr val="bg1"/>
                </a:solidFill>
              </a:rPr>
              <a:t> t0, zero ,31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beq</a:t>
            </a:r>
            <a:r>
              <a:rPr lang="en-US" altLang="zh-CN" sz="1600" dirty="0">
                <a:solidFill>
                  <a:schemeClr val="bg1"/>
                </a:solidFill>
              </a:rPr>
              <a:t> s0, t0, final_judge1  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uret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>
                <a:solidFill>
                  <a:schemeClr val="bg1"/>
                </a:solidFill>
              </a:rPr>
              <a:t>final_judge1:</a:t>
            </a:r>
          </a:p>
          <a:p>
            <a:r>
              <a:rPr lang="en-US" altLang="zh-CN" sz="1600" dirty="0" err="1">
                <a:solidFill>
                  <a:schemeClr val="bg1"/>
                </a:solidFill>
              </a:rPr>
              <a:t>beq</a:t>
            </a:r>
            <a:r>
              <a:rPr lang="en-US" altLang="zh-CN" sz="1600" dirty="0">
                <a:solidFill>
                  <a:schemeClr val="bg1"/>
                </a:solidFill>
              </a:rPr>
              <a:t> s1, t0 ,success   </a:t>
            </a:r>
            <a:r>
              <a:rPr lang="en-US" altLang="zh-CN" sz="1600" dirty="0"/>
              <a:t># </a:t>
            </a:r>
            <a:r>
              <a:rPr lang="zh-CN" altLang="en-US" sz="1600" dirty="0"/>
              <a:t>到达终点，跳转到</a:t>
            </a:r>
            <a:r>
              <a:rPr lang="en-US" altLang="zh-CN" sz="1600" dirty="0"/>
              <a:t>success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33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游玩展示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9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79790c64-9983-43f6-a83d-911277842dbb">
            <a:extLst>
              <a:ext uri="{FF2B5EF4-FFF2-40B4-BE49-F238E27FC236}">
                <a16:creationId xmlns:a16="http://schemas.microsoft.com/office/drawing/2014/main" id="{1DA173F7-51EB-44C1-AB04-3F82ED4F8255}"/>
              </a:ext>
            </a:extLst>
          </p:cNvPr>
          <p:cNvGrpSpPr>
            <a:grpSpLocks noChangeAspect="1"/>
          </p:cNvGrpSpPr>
          <p:nvPr/>
        </p:nvGrpSpPr>
        <p:grpSpPr>
          <a:xfrm>
            <a:off x="23664" y="699542"/>
            <a:ext cx="3036168" cy="4443958"/>
            <a:chOff x="3348848" y="4"/>
            <a:chExt cx="5527456" cy="5881124"/>
          </a:xfrm>
        </p:grpSpPr>
        <p:sp>
          <p:nvSpPr>
            <p:cNvPr id="28" name="Rectangle: Top Corners Snipped 1">
              <a:extLst>
                <a:ext uri="{FF2B5EF4-FFF2-40B4-BE49-F238E27FC236}">
                  <a16:creationId xmlns:a16="http://schemas.microsoft.com/office/drawing/2014/main" id="{434C615A-020C-49C9-91C5-A2FEEB6430ED}"/>
                </a:ext>
              </a:extLst>
            </p:cNvPr>
            <p:cNvSpPr/>
            <p:nvPr/>
          </p:nvSpPr>
          <p:spPr>
            <a:xfrm rot="10800000">
              <a:off x="3354097" y="4"/>
              <a:ext cx="5483819" cy="5007429"/>
            </a:xfrm>
            <a:prstGeom prst="snip2Same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29" name="Group 7">
              <a:extLst>
                <a:ext uri="{FF2B5EF4-FFF2-40B4-BE49-F238E27FC236}">
                  <a16:creationId xmlns:a16="http://schemas.microsoft.com/office/drawing/2014/main" id="{4F9ACBFF-B6A0-4617-AF3E-0914FA36844B}"/>
                </a:ext>
              </a:extLst>
            </p:cNvPr>
            <p:cNvGrpSpPr/>
            <p:nvPr/>
          </p:nvGrpSpPr>
          <p:grpSpPr>
            <a:xfrm>
              <a:off x="5478193" y="3342445"/>
              <a:ext cx="936299" cy="936299"/>
              <a:chOff x="11609634" y="1356959"/>
              <a:chExt cx="287091" cy="287091"/>
            </a:xfrm>
            <a:solidFill>
              <a:schemeClr val="bg1"/>
            </a:solidFill>
          </p:grpSpPr>
          <p:sp>
            <p:nvSpPr>
              <p:cNvPr id="47" name="Freeform: Shape 8">
                <a:extLst>
                  <a:ext uri="{FF2B5EF4-FFF2-40B4-BE49-F238E27FC236}">
                    <a16:creationId xmlns:a16="http://schemas.microsoft.com/office/drawing/2014/main" id="{6E3B740D-5285-4E9E-96DC-E4D4A9C92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9634" y="1356959"/>
                <a:ext cx="287091" cy="287091"/>
              </a:xfrm>
              <a:custGeom>
                <a:avLst/>
                <a:gdLst>
                  <a:gd name="T0" fmla="*/ 652 w 932"/>
                  <a:gd name="T1" fmla="*/ 901 h 932"/>
                  <a:gd name="T2" fmla="*/ 901 w 932"/>
                  <a:gd name="T3" fmla="*/ 808 h 932"/>
                  <a:gd name="T4" fmla="*/ 31 w 932"/>
                  <a:gd name="T5" fmla="*/ 808 h 932"/>
                  <a:gd name="T6" fmla="*/ 279 w 932"/>
                  <a:gd name="T7" fmla="*/ 901 h 932"/>
                  <a:gd name="T8" fmla="*/ 31 w 932"/>
                  <a:gd name="T9" fmla="*/ 808 h 932"/>
                  <a:gd name="T10" fmla="*/ 279 w 932"/>
                  <a:gd name="T11" fmla="*/ 31 h 932"/>
                  <a:gd name="T12" fmla="*/ 31 w 932"/>
                  <a:gd name="T13" fmla="*/ 124 h 932"/>
                  <a:gd name="T14" fmla="*/ 901 w 932"/>
                  <a:gd name="T15" fmla="*/ 124 h 932"/>
                  <a:gd name="T16" fmla="*/ 652 w 932"/>
                  <a:gd name="T17" fmla="*/ 31 h 932"/>
                  <a:gd name="T18" fmla="*/ 901 w 932"/>
                  <a:gd name="T19" fmla="*/ 124 h 932"/>
                  <a:gd name="T20" fmla="*/ 310 w 932"/>
                  <a:gd name="T21" fmla="*/ 31 h 932"/>
                  <a:gd name="T22" fmla="*/ 621 w 932"/>
                  <a:gd name="T23" fmla="*/ 124 h 932"/>
                  <a:gd name="T24" fmla="*/ 31 w 932"/>
                  <a:gd name="T25" fmla="*/ 777 h 932"/>
                  <a:gd name="T26" fmla="*/ 901 w 932"/>
                  <a:gd name="T27" fmla="*/ 155 h 932"/>
                  <a:gd name="T28" fmla="*/ 31 w 932"/>
                  <a:gd name="T29" fmla="*/ 777 h 932"/>
                  <a:gd name="T30" fmla="*/ 621 w 932"/>
                  <a:gd name="T31" fmla="*/ 901 h 932"/>
                  <a:gd name="T32" fmla="*/ 310 w 932"/>
                  <a:gd name="T33" fmla="*/ 808 h 932"/>
                  <a:gd name="T34" fmla="*/ 916 w 932"/>
                  <a:gd name="T35" fmla="*/ 0 h 932"/>
                  <a:gd name="T36" fmla="*/ 12 w 932"/>
                  <a:gd name="T37" fmla="*/ 0 h 932"/>
                  <a:gd name="T38" fmla="*/ 7 w 932"/>
                  <a:gd name="T39" fmla="*/ 2 h 932"/>
                  <a:gd name="T40" fmla="*/ 2 w 932"/>
                  <a:gd name="T41" fmla="*/ 7 h 932"/>
                  <a:gd name="T42" fmla="*/ 0 w 932"/>
                  <a:gd name="T43" fmla="*/ 12 h 932"/>
                  <a:gd name="T44" fmla="*/ 0 w 932"/>
                  <a:gd name="T45" fmla="*/ 139 h 932"/>
                  <a:gd name="T46" fmla="*/ 0 w 932"/>
                  <a:gd name="T47" fmla="*/ 917 h 932"/>
                  <a:gd name="T48" fmla="*/ 1 w 932"/>
                  <a:gd name="T49" fmla="*/ 922 h 932"/>
                  <a:gd name="T50" fmla="*/ 4 w 932"/>
                  <a:gd name="T51" fmla="*/ 928 h 932"/>
                  <a:gd name="T52" fmla="*/ 9 w 932"/>
                  <a:gd name="T53" fmla="*/ 931 h 932"/>
                  <a:gd name="T54" fmla="*/ 15 w 932"/>
                  <a:gd name="T55" fmla="*/ 932 h 932"/>
                  <a:gd name="T56" fmla="*/ 920 w 932"/>
                  <a:gd name="T57" fmla="*/ 932 h 932"/>
                  <a:gd name="T58" fmla="*/ 925 w 932"/>
                  <a:gd name="T59" fmla="*/ 929 h 932"/>
                  <a:gd name="T60" fmla="*/ 930 w 932"/>
                  <a:gd name="T61" fmla="*/ 926 h 932"/>
                  <a:gd name="T62" fmla="*/ 932 w 932"/>
                  <a:gd name="T63" fmla="*/ 920 h 932"/>
                  <a:gd name="T64" fmla="*/ 932 w 932"/>
                  <a:gd name="T65" fmla="*/ 792 h 932"/>
                  <a:gd name="T66" fmla="*/ 932 w 932"/>
                  <a:gd name="T67" fmla="*/ 16 h 932"/>
                  <a:gd name="T68" fmla="*/ 931 w 932"/>
                  <a:gd name="T69" fmla="*/ 9 h 932"/>
                  <a:gd name="T70" fmla="*/ 928 w 932"/>
                  <a:gd name="T71" fmla="*/ 5 h 932"/>
                  <a:gd name="T72" fmla="*/ 922 w 932"/>
                  <a:gd name="T73" fmla="*/ 1 h 932"/>
                  <a:gd name="T74" fmla="*/ 916 w 932"/>
                  <a:gd name="T75" fmla="*/ 0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32" h="932">
                    <a:moveTo>
                      <a:pt x="901" y="901"/>
                    </a:moveTo>
                    <a:lnTo>
                      <a:pt x="652" y="901"/>
                    </a:lnTo>
                    <a:lnTo>
                      <a:pt x="652" y="808"/>
                    </a:lnTo>
                    <a:lnTo>
                      <a:pt x="901" y="808"/>
                    </a:lnTo>
                    <a:lnTo>
                      <a:pt x="901" y="901"/>
                    </a:lnTo>
                    <a:close/>
                    <a:moveTo>
                      <a:pt x="31" y="808"/>
                    </a:moveTo>
                    <a:lnTo>
                      <a:pt x="279" y="808"/>
                    </a:lnTo>
                    <a:lnTo>
                      <a:pt x="279" y="901"/>
                    </a:lnTo>
                    <a:lnTo>
                      <a:pt x="31" y="901"/>
                    </a:lnTo>
                    <a:lnTo>
                      <a:pt x="31" y="808"/>
                    </a:lnTo>
                    <a:close/>
                    <a:moveTo>
                      <a:pt x="31" y="31"/>
                    </a:moveTo>
                    <a:lnTo>
                      <a:pt x="279" y="31"/>
                    </a:lnTo>
                    <a:lnTo>
                      <a:pt x="279" y="124"/>
                    </a:lnTo>
                    <a:lnTo>
                      <a:pt x="31" y="124"/>
                    </a:lnTo>
                    <a:lnTo>
                      <a:pt x="31" y="31"/>
                    </a:lnTo>
                    <a:close/>
                    <a:moveTo>
                      <a:pt x="901" y="124"/>
                    </a:moveTo>
                    <a:lnTo>
                      <a:pt x="652" y="124"/>
                    </a:lnTo>
                    <a:lnTo>
                      <a:pt x="652" y="31"/>
                    </a:lnTo>
                    <a:lnTo>
                      <a:pt x="901" y="31"/>
                    </a:lnTo>
                    <a:lnTo>
                      <a:pt x="901" y="124"/>
                    </a:lnTo>
                    <a:close/>
                    <a:moveTo>
                      <a:pt x="310" y="124"/>
                    </a:moveTo>
                    <a:lnTo>
                      <a:pt x="310" y="31"/>
                    </a:lnTo>
                    <a:lnTo>
                      <a:pt x="621" y="31"/>
                    </a:lnTo>
                    <a:lnTo>
                      <a:pt x="621" y="124"/>
                    </a:lnTo>
                    <a:lnTo>
                      <a:pt x="310" y="124"/>
                    </a:lnTo>
                    <a:close/>
                    <a:moveTo>
                      <a:pt x="31" y="777"/>
                    </a:moveTo>
                    <a:lnTo>
                      <a:pt x="31" y="155"/>
                    </a:lnTo>
                    <a:lnTo>
                      <a:pt x="901" y="155"/>
                    </a:lnTo>
                    <a:lnTo>
                      <a:pt x="901" y="777"/>
                    </a:lnTo>
                    <a:lnTo>
                      <a:pt x="31" y="777"/>
                    </a:lnTo>
                    <a:close/>
                    <a:moveTo>
                      <a:pt x="621" y="808"/>
                    </a:moveTo>
                    <a:lnTo>
                      <a:pt x="621" y="901"/>
                    </a:lnTo>
                    <a:lnTo>
                      <a:pt x="310" y="901"/>
                    </a:lnTo>
                    <a:lnTo>
                      <a:pt x="310" y="808"/>
                    </a:lnTo>
                    <a:lnTo>
                      <a:pt x="621" y="808"/>
                    </a:lnTo>
                    <a:close/>
                    <a:moveTo>
                      <a:pt x="916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39"/>
                    </a:lnTo>
                    <a:lnTo>
                      <a:pt x="0" y="792"/>
                    </a:lnTo>
                    <a:lnTo>
                      <a:pt x="0" y="917"/>
                    </a:lnTo>
                    <a:lnTo>
                      <a:pt x="0" y="920"/>
                    </a:lnTo>
                    <a:lnTo>
                      <a:pt x="1" y="922"/>
                    </a:lnTo>
                    <a:lnTo>
                      <a:pt x="2" y="926"/>
                    </a:lnTo>
                    <a:lnTo>
                      <a:pt x="4" y="928"/>
                    </a:lnTo>
                    <a:lnTo>
                      <a:pt x="7" y="929"/>
                    </a:lnTo>
                    <a:lnTo>
                      <a:pt x="9" y="931"/>
                    </a:lnTo>
                    <a:lnTo>
                      <a:pt x="12" y="932"/>
                    </a:lnTo>
                    <a:lnTo>
                      <a:pt x="15" y="932"/>
                    </a:lnTo>
                    <a:lnTo>
                      <a:pt x="916" y="932"/>
                    </a:lnTo>
                    <a:lnTo>
                      <a:pt x="920" y="932"/>
                    </a:lnTo>
                    <a:lnTo>
                      <a:pt x="922" y="931"/>
                    </a:lnTo>
                    <a:lnTo>
                      <a:pt x="925" y="929"/>
                    </a:lnTo>
                    <a:lnTo>
                      <a:pt x="928" y="928"/>
                    </a:lnTo>
                    <a:lnTo>
                      <a:pt x="930" y="926"/>
                    </a:lnTo>
                    <a:lnTo>
                      <a:pt x="931" y="922"/>
                    </a:lnTo>
                    <a:lnTo>
                      <a:pt x="932" y="920"/>
                    </a:lnTo>
                    <a:lnTo>
                      <a:pt x="932" y="917"/>
                    </a:lnTo>
                    <a:lnTo>
                      <a:pt x="932" y="792"/>
                    </a:lnTo>
                    <a:lnTo>
                      <a:pt x="932" y="139"/>
                    </a:lnTo>
                    <a:lnTo>
                      <a:pt x="932" y="16"/>
                    </a:lnTo>
                    <a:lnTo>
                      <a:pt x="932" y="12"/>
                    </a:lnTo>
                    <a:lnTo>
                      <a:pt x="931" y="9"/>
                    </a:lnTo>
                    <a:lnTo>
                      <a:pt x="930" y="7"/>
                    </a:lnTo>
                    <a:lnTo>
                      <a:pt x="928" y="5"/>
                    </a:lnTo>
                    <a:lnTo>
                      <a:pt x="925" y="2"/>
                    </a:lnTo>
                    <a:lnTo>
                      <a:pt x="922" y="1"/>
                    </a:lnTo>
                    <a:lnTo>
                      <a:pt x="920" y="0"/>
                    </a:lnTo>
                    <a:lnTo>
                      <a:pt x="916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Freeform: Shape 9">
                <a:extLst>
                  <a:ext uri="{FF2B5EF4-FFF2-40B4-BE49-F238E27FC236}">
                    <a16:creationId xmlns:a16="http://schemas.microsoft.com/office/drawing/2014/main" id="{44202213-EBA7-4664-A49F-4B6F23929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1099" y="1428424"/>
                <a:ext cx="144162" cy="144162"/>
              </a:xfrm>
              <a:custGeom>
                <a:avLst/>
                <a:gdLst>
                  <a:gd name="T0" fmla="*/ 192 w 466"/>
                  <a:gd name="T1" fmla="*/ 432 h 467"/>
                  <a:gd name="T2" fmla="*/ 137 w 466"/>
                  <a:gd name="T3" fmla="*/ 412 h 467"/>
                  <a:gd name="T4" fmla="*/ 90 w 466"/>
                  <a:gd name="T5" fmla="*/ 377 h 467"/>
                  <a:gd name="T6" fmla="*/ 55 w 466"/>
                  <a:gd name="T7" fmla="*/ 330 h 467"/>
                  <a:gd name="T8" fmla="*/ 35 w 466"/>
                  <a:gd name="T9" fmla="*/ 275 h 467"/>
                  <a:gd name="T10" fmla="*/ 31 w 466"/>
                  <a:gd name="T11" fmla="*/ 214 h 467"/>
                  <a:gd name="T12" fmla="*/ 47 w 466"/>
                  <a:gd name="T13" fmla="*/ 155 h 467"/>
                  <a:gd name="T14" fmla="*/ 77 w 466"/>
                  <a:gd name="T15" fmla="*/ 106 h 467"/>
                  <a:gd name="T16" fmla="*/ 120 w 466"/>
                  <a:gd name="T17" fmla="*/ 66 h 467"/>
                  <a:gd name="T18" fmla="*/ 172 w 466"/>
                  <a:gd name="T19" fmla="*/ 42 h 467"/>
                  <a:gd name="T20" fmla="*/ 232 w 466"/>
                  <a:gd name="T21" fmla="*/ 32 h 467"/>
                  <a:gd name="T22" fmla="*/ 292 w 466"/>
                  <a:gd name="T23" fmla="*/ 42 h 467"/>
                  <a:gd name="T24" fmla="*/ 346 w 466"/>
                  <a:gd name="T25" fmla="*/ 66 h 467"/>
                  <a:gd name="T26" fmla="*/ 389 w 466"/>
                  <a:gd name="T27" fmla="*/ 106 h 467"/>
                  <a:gd name="T28" fmla="*/ 419 w 466"/>
                  <a:gd name="T29" fmla="*/ 156 h 467"/>
                  <a:gd name="T30" fmla="*/ 433 w 466"/>
                  <a:gd name="T31" fmla="*/ 214 h 467"/>
                  <a:gd name="T32" fmla="*/ 430 w 466"/>
                  <a:gd name="T33" fmla="*/ 275 h 467"/>
                  <a:gd name="T34" fmla="*/ 410 w 466"/>
                  <a:gd name="T35" fmla="*/ 330 h 467"/>
                  <a:gd name="T36" fmla="*/ 376 w 466"/>
                  <a:gd name="T37" fmla="*/ 377 h 467"/>
                  <a:gd name="T38" fmla="*/ 329 w 466"/>
                  <a:gd name="T39" fmla="*/ 412 h 467"/>
                  <a:gd name="T40" fmla="*/ 273 w 466"/>
                  <a:gd name="T41" fmla="*/ 432 h 467"/>
                  <a:gd name="T42" fmla="*/ 232 w 466"/>
                  <a:gd name="T43" fmla="*/ 0 h 467"/>
                  <a:gd name="T44" fmla="*/ 197 w 466"/>
                  <a:gd name="T45" fmla="*/ 4 h 467"/>
                  <a:gd name="T46" fmla="*/ 163 w 466"/>
                  <a:gd name="T47" fmla="*/ 12 h 467"/>
                  <a:gd name="T48" fmla="*/ 121 w 466"/>
                  <a:gd name="T49" fmla="*/ 29 h 467"/>
                  <a:gd name="T50" fmla="*/ 68 w 466"/>
                  <a:gd name="T51" fmla="*/ 69 h 467"/>
                  <a:gd name="T52" fmla="*/ 28 w 466"/>
                  <a:gd name="T53" fmla="*/ 123 h 467"/>
                  <a:gd name="T54" fmla="*/ 10 w 466"/>
                  <a:gd name="T55" fmla="*/ 165 h 467"/>
                  <a:gd name="T56" fmla="*/ 2 w 466"/>
                  <a:gd name="T57" fmla="*/ 198 h 467"/>
                  <a:gd name="T58" fmla="*/ 0 w 466"/>
                  <a:gd name="T59" fmla="*/ 234 h 467"/>
                  <a:gd name="T60" fmla="*/ 2 w 466"/>
                  <a:gd name="T61" fmla="*/ 269 h 467"/>
                  <a:gd name="T62" fmla="*/ 10 w 466"/>
                  <a:gd name="T63" fmla="*/ 304 h 467"/>
                  <a:gd name="T64" fmla="*/ 28 w 466"/>
                  <a:gd name="T65" fmla="*/ 345 h 467"/>
                  <a:gd name="T66" fmla="*/ 68 w 466"/>
                  <a:gd name="T67" fmla="*/ 398 h 467"/>
                  <a:gd name="T68" fmla="*/ 121 w 466"/>
                  <a:gd name="T69" fmla="*/ 439 h 467"/>
                  <a:gd name="T70" fmla="*/ 163 w 466"/>
                  <a:gd name="T71" fmla="*/ 457 h 467"/>
                  <a:gd name="T72" fmla="*/ 197 w 466"/>
                  <a:gd name="T73" fmla="*/ 465 h 467"/>
                  <a:gd name="T74" fmla="*/ 232 w 466"/>
                  <a:gd name="T75" fmla="*/ 467 h 467"/>
                  <a:gd name="T76" fmla="*/ 268 w 466"/>
                  <a:gd name="T77" fmla="*/ 465 h 467"/>
                  <a:gd name="T78" fmla="*/ 302 w 466"/>
                  <a:gd name="T79" fmla="*/ 457 h 467"/>
                  <a:gd name="T80" fmla="*/ 343 w 466"/>
                  <a:gd name="T81" fmla="*/ 439 h 467"/>
                  <a:gd name="T82" fmla="*/ 398 w 466"/>
                  <a:gd name="T83" fmla="*/ 399 h 467"/>
                  <a:gd name="T84" fmla="*/ 438 w 466"/>
                  <a:gd name="T85" fmla="*/ 345 h 467"/>
                  <a:gd name="T86" fmla="*/ 456 w 466"/>
                  <a:gd name="T87" fmla="*/ 304 h 467"/>
                  <a:gd name="T88" fmla="*/ 463 w 466"/>
                  <a:gd name="T89" fmla="*/ 269 h 467"/>
                  <a:gd name="T90" fmla="*/ 466 w 466"/>
                  <a:gd name="T91" fmla="*/ 234 h 467"/>
                  <a:gd name="T92" fmla="*/ 463 w 466"/>
                  <a:gd name="T93" fmla="*/ 198 h 467"/>
                  <a:gd name="T94" fmla="*/ 456 w 466"/>
                  <a:gd name="T95" fmla="*/ 165 h 467"/>
                  <a:gd name="T96" fmla="*/ 438 w 466"/>
                  <a:gd name="T97" fmla="*/ 123 h 467"/>
                  <a:gd name="T98" fmla="*/ 398 w 466"/>
                  <a:gd name="T99" fmla="*/ 69 h 467"/>
                  <a:gd name="T100" fmla="*/ 343 w 466"/>
                  <a:gd name="T101" fmla="*/ 29 h 467"/>
                  <a:gd name="T102" fmla="*/ 302 w 466"/>
                  <a:gd name="T103" fmla="*/ 12 h 467"/>
                  <a:gd name="T104" fmla="*/ 268 w 466"/>
                  <a:gd name="T105" fmla="*/ 4 h 467"/>
                  <a:gd name="T106" fmla="*/ 232 w 466"/>
                  <a:gd name="T107" fmla="*/ 0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6" h="467">
                    <a:moveTo>
                      <a:pt x="232" y="436"/>
                    </a:moveTo>
                    <a:lnTo>
                      <a:pt x="212" y="435"/>
                    </a:lnTo>
                    <a:lnTo>
                      <a:pt x="192" y="432"/>
                    </a:lnTo>
                    <a:lnTo>
                      <a:pt x="172" y="427"/>
                    </a:lnTo>
                    <a:lnTo>
                      <a:pt x="155" y="420"/>
                    </a:lnTo>
                    <a:lnTo>
                      <a:pt x="137" y="412"/>
                    </a:lnTo>
                    <a:lnTo>
                      <a:pt x="120" y="402"/>
                    </a:lnTo>
                    <a:lnTo>
                      <a:pt x="105" y="390"/>
                    </a:lnTo>
                    <a:lnTo>
                      <a:pt x="90" y="377"/>
                    </a:lnTo>
                    <a:lnTo>
                      <a:pt x="77" y="363"/>
                    </a:lnTo>
                    <a:lnTo>
                      <a:pt x="66" y="347"/>
                    </a:lnTo>
                    <a:lnTo>
                      <a:pt x="55" y="330"/>
                    </a:lnTo>
                    <a:lnTo>
                      <a:pt x="47" y="313"/>
                    </a:lnTo>
                    <a:lnTo>
                      <a:pt x="40" y="294"/>
                    </a:lnTo>
                    <a:lnTo>
                      <a:pt x="35" y="275"/>
                    </a:lnTo>
                    <a:lnTo>
                      <a:pt x="31" y="255"/>
                    </a:lnTo>
                    <a:lnTo>
                      <a:pt x="30" y="234"/>
                    </a:lnTo>
                    <a:lnTo>
                      <a:pt x="31" y="214"/>
                    </a:lnTo>
                    <a:lnTo>
                      <a:pt x="35" y="194"/>
                    </a:lnTo>
                    <a:lnTo>
                      <a:pt x="40" y="174"/>
                    </a:lnTo>
                    <a:lnTo>
                      <a:pt x="47" y="155"/>
                    </a:lnTo>
                    <a:lnTo>
                      <a:pt x="55" y="138"/>
                    </a:lnTo>
                    <a:lnTo>
                      <a:pt x="66" y="122"/>
                    </a:lnTo>
                    <a:lnTo>
                      <a:pt x="77" y="106"/>
                    </a:lnTo>
                    <a:lnTo>
                      <a:pt x="90" y="92"/>
                    </a:lnTo>
                    <a:lnTo>
                      <a:pt x="105" y="78"/>
                    </a:lnTo>
                    <a:lnTo>
                      <a:pt x="120" y="66"/>
                    </a:lnTo>
                    <a:lnTo>
                      <a:pt x="137" y="56"/>
                    </a:lnTo>
                    <a:lnTo>
                      <a:pt x="155" y="48"/>
                    </a:lnTo>
                    <a:lnTo>
                      <a:pt x="172" y="42"/>
                    </a:lnTo>
                    <a:lnTo>
                      <a:pt x="192" y="36"/>
                    </a:lnTo>
                    <a:lnTo>
                      <a:pt x="212" y="33"/>
                    </a:lnTo>
                    <a:lnTo>
                      <a:pt x="232" y="32"/>
                    </a:lnTo>
                    <a:lnTo>
                      <a:pt x="253" y="33"/>
                    </a:lnTo>
                    <a:lnTo>
                      <a:pt x="273" y="36"/>
                    </a:lnTo>
                    <a:lnTo>
                      <a:pt x="292" y="42"/>
                    </a:lnTo>
                    <a:lnTo>
                      <a:pt x="311" y="48"/>
                    </a:lnTo>
                    <a:lnTo>
                      <a:pt x="329" y="56"/>
                    </a:lnTo>
                    <a:lnTo>
                      <a:pt x="346" y="66"/>
                    </a:lnTo>
                    <a:lnTo>
                      <a:pt x="361" y="78"/>
                    </a:lnTo>
                    <a:lnTo>
                      <a:pt x="376" y="92"/>
                    </a:lnTo>
                    <a:lnTo>
                      <a:pt x="389" y="106"/>
                    </a:lnTo>
                    <a:lnTo>
                      <a:pt x="400" y="122"/>
                    </a:lnTo>
                    <a:lnTo>
                      <a:pt x="410" y="138"/>
                    </a:lnTo>
                    <a:lnTo>
                      <a:pt x="419" y="156"/>
                    </a:lnTo>
                    <a:lnTo>
                      <a:pt x="426" y="174"/>
                    </a:lnTo>
                    <a:lnTo>
                      <a:pt x="430" y="194"/>
                    </a:lnTo>
                    <a:lnTo>
                      <a:pt x="433" y="214"/>
                    </a:lnTo>
                    <a:lnTo>
                      <a:pt x="435" y="234"/>
                    </a:lnTo>
                    <a:lnTo>
                      <a:pt x="433" y="255"/>
                    </a:lnTo>
                    <a:lnTo>
                      <a:pt x="430" y="275"/>
                    </a:lnTo>
                    <a:lnTo>
                      <a:pt x="426" y="294"/>
                    </a:lnTo>
                    <a:lnTo>
                      <a:pt x="419" y="313"/>
                    </a:lnTo>
                    <a:lnTo>
                      <a:pt x="410" y="330"/>
                    </a:lnTo>
                    <a:lnTo>
                      <a:pt x="400" y="347"/>
                    </a:lnTo>
                    <a:lnTo>
                      <a:pt x="389" y="363"/>
                    </a:lnTo>
                    <a:lnTo>
                      <a:pt x="376" y="377"/>
                    </a:lnTo>
                    <a:lnTo>
                      <a:pt x="361" y="389"/>
                    </a:lnTo>
                    <a:lnTo>
                      <a:pt x="346" y="402"/>
                    </a:lnTo>
                    <a:lnTo>
                      <a:pt x="329" y="412"/>
                    </a:lnTo>
                    <a:lnTo>
                      <a:pt x="311" y="420"/>
                    </a:lnTo>
                    <a:lnTo>
                      <a:pt x="292" y="427"/>
                    </a:lnTo>
                    <a:lnTo>
                      <a:pt x="273" y="432"/>
                    </a:lnTo>
                    <a:lnTo>
                      <a:pt x="253" y="435"/>
                    </a:lnTo>
                    <a:lnTo>
                      <a:pt x="232" y="436"/>
                    </a:lnTo>
                    <a:close/>
                    <a:moveTo>
                      <a:pt x="232" y="0"/>
                    </a:moveTo>
                    <a:lnTo>
                      <a:pt x="221" y="2"/>
                    </a:lnTo>
                    <a:lnTo>
                      <a:pt x="209" y="2"/>
                    </a:lnTo>
                    <a:lnTo>
                      <a:pt x="197" y="4"/>
                    </a:lnTo>
                    <a:lnTo>
                      <a:pt x="186" y="6"/>
                    </a:lnTo>
                    <a:lnTo>
                      <a:pt x="175" y="8"/>
                    </a:lnTo>
                    <a:lnTo>
                      <a:pt x="163" y="12"/>
                    </a:lnTo>
                    <a:lnTo>
                      <a:pt x="152" y="15"/>
                    </a:lnTo>
                    <a:lnTo>
                      <a:pt x="142" y="19"/>
                    </a:lnTo>
                    <a:lnTo>
                      <a:pt x="121" y="29"/>
                    </a:lnTo>
                    <a:lnTo>
                      <a:pt x="102" y="40"/>
                    </a:lnTo>
                    <a:lnTo>
                      <a:pt x="85" y="54"/>
                    </a:lnTo>
                    <a:lnTo>
                      <a:pt x="68" y="69"/>
                    </a:lnTo>
                    <a:lnTo>
                      <a:pt x="52" y="86"/>
                    </a:lnTo>
                    <a:lnTo>
                      <a:pt x="39" y="104"/>
                    </a:lnTo>
                    <a:lnTo>
                      <a:pt x="28" y="123"/>
                    </a:lnTo>
                    <a:lnTo>
                      <a:pt x="18" y="144"/>
                    </a:lnTo>
                    <a:lnTo>
                      <a:pt x="14" y="154"/>
                    </a:lnTo>
                    <a:lnTo>
                      <a:pt x="10" y="165"/>
                    </a:lnTo>
                    <a:lnTo>
                      <a:pt x="7" y="176"/>
                    </a:lnTo>
                    <a:lnTo>
                      <a:pt x="5" y="187"/>
                    </a:lnTo>
                    <a:lnTo>
                      <a:pt x="2" y="198"/>
                    </a:lnTo>
                    <a:lnTo>
                      <a:pt x="1" y="210"/>
                    </a:lnTo>
                    <a:lnTo>
                      <a:pt x="0" y="222"/>
                    </a:lnTo>
                    <a:lnTo>
                      <a:pt x="0" y="234"/>
                    </a:lnTo>
                    <a:lnTo>
                      <a:pt x="0" y="246"/>
                    </a:lnTo>
                    <a:lnTo>
                      <a:pt x="1" y="258"/>
                    </a:lnTo>
                    <a:lnTo>
                      <a:pt x="2" y="269"/>
                    </a:lnTo>
                    <a:lnTo>
                      <a:pt x="5" y="280"/>
                    </a:lnTo>
                    <a:lnTo>
                      <a:pt x="7" y="293"/>
                    </a:lnTo>
                    <a:lnTo>
                      <a:pt x="10" y="304"/>
                    </a:lnTo>
                    <a:lnTo>
                      <a:pt x="14" y="314"/>
                    </a:lnTo>
                    <a:lnTo>
                      <a:pt x="18" y="325"/>
                    </a:lnTo>
                    <a:lnTo>
                      <a:pt x="28" y="345"/>
                    </a:lnTo>
                    <a:lnTo>
                      <a:pt x="39" y="364"/>
                    </a:lnTo>
                    <a:lnTo>
                      <a:pt x="52" y="383"/>
                    </a:lnTo>
                    <a:lnTo>
                      <a:pt x="68" y="398"/>
                    </a:lnTo>
                    <a:lnTo>
                      <a:pt x="85" y="414"/>
                    </a:lnTo>
                    <a:lnTo>
                      <a:pt x="102" y="427"/>
                    </a:lnTo>
                    <a:lnTo>
                      <a:pt x="121" y="439"/>
                    </a:lnTo>
                    <a:lnTo>
                      <a:pt x="142" y="449"/>
                    </a:lnTo>
                    <a:lnTo>
                      <a:pt x="152" y="453"/>
                    </a:lnTo>
                    <a:lnTo>
                      <a:pt x="163" y="457"/>
                    </a:lnTo>
                    <a:lnTo>
                      <a:pt x="175" y="459"/>
                    </a:lnTo>
                    <a:lnTo>
                      <a:pt x="186" y="463"/>
                    </a:lnTo>
                    <a:lnTo>
                      <a:pt x="197" y="465"/>
                    </a:lnTo>
                    <a:lnTo>
                      <a:pt x="209" y="466"/>
                    </a:lnTo>
                    <a:lnTo>
                      <a:pt x="221" y="467"/>
                    </a:lnTo>
                    <a:lnTo>
                      <a:pt x="232" y="467"/>
                    </a:lnTo>
                    <a:lnTo>
                      <a:pt x="245" y="467"/>
                    </a:lnTo>
                    <a:lnTo>
                      <a:pt x="257" y="466"/>
                    </a:lnTo>
                    <a:lnTo>
                      <a:pt x="268" y="465"/>
                    </a:lnTo>
                    <a:lnTo>
                      <a:pt x="280" y="463"/>
                    </a:lnTo>
                    <a:lnTo>
                      <a:pt x="291" y="459"/>
                    </a:lnTo>
                    <a:lnTo>
                      <a:pt x="302" y="457"/>
                    </a:lnTo>
                    <a:lnTo>
                      <a:pt x="312" y="453"/>
                    </a:lnTo>
                    <a:lnTo>
                      <a:pt x="323" y="449"/>
                    </a:lnTo>
                    <a:lnTo>
                      <a:pt x="343" y="439"/>
                    </a:lnTo>
                    <a:lnTo>
                      <a:pt x="363" y="427"/>
                    </a:lnTo>
                    <a:lnTo>
                      <a:pt x="381" y="414"/>
                    </a:lnTo>
                    <a:lnTo>
                      <a:pt x="398" y="399"/>
                    </a:lnTo>
                    <a:lnTo>
                      <a:pt x="412" y="383"/>
                    </a:lnTo>
                    <a:lnTo>
                      <a:pt x="426" y="364"/>
                    </a:lnTo>
                    <a:lnTo>
                      <a:pt x="438" y="345"/>
                    </a:lnTo>
                    <a:lnTo>
                      <a:pt x="448" y="325"/>
                    </a:lnTo>
                    <a:lnTo>
                      <a:pt x="451" y="314"/>
                    </a:lnTo>
                    <a:lnTo>
                      <a:pt x="456" y="304"/>
                    </a:lnTo>
                    <a:lnTo>
                      <a:pt x="459" y="293"/>
                    </a:lnTo>
                    <a:lnTo>
                      <a:pt x="461" y="280"/>
                    </a:lnTo>
                    <a:lnTo>
                      <a:pt x="463" y="269"/>
                    </a:lnTo>
                    <a:lnTo>
                      <a:pt x="465" y="258"/>
                    </a:lnTo>
                    <a:lnTo>
                      <a:pt x="466" y="246"/>
                    </a:lnTo>
                    <a:lnTo>
                      <a:pt x="466" y="234"/>
                    </a:lnTo>
                    <a:lnTo>
                      <a:pt x="466" y="222"/>
                    </a:lnTo>
                    <a:lnTo>
                      <a:pt x="465" y="210"/>
                    </a:lnTo>
                    <a:lnTo>
                      <a:pt x="463" y="198"/>
                    </a:lnTo>
                    <a:lnTo>
                      <a:pt x="461" y="187"/>
                    </a:lnTo>
                    <a:lnTo>
                      <a:pt x="459" y="176"/>
                    </a:lnTo>
                    <a:lnTo>
                      <a:pt x="456" y="165"/>
                    </a:lnTo>
                    <a:lnTo>
                      <a:pt x="451" y="154"/>
                    </a:lnTo>
                    <a:lnTo>
                      <a:pt x="448" y="144"/>
                    </a:lnTo>
                    <a:lnTo>
                      <a:pt x="438" y="123"/>
                    </a:lnTo>
                    <a:lnTo>
                      <a:pt x="426" y="104"/>
                    </a:lnTo>
                    <a:lnTo>
                      <a:pt x="412" y="86"/>
                    </a:lnTo>
                    <a:lnTo>
                      <a:pt x="398" y="69"/>
                    </a:lnTo>
                    <a:lnTo>
                      <a:pt x="381" y="54"/>
                    </a:lnTo>
                    <a:lnTo>
                      <a:pt x="363" y="40"/>
                    </a:lnTo>
                    <a:lnTo>
                      <a:pt x="343" y="29"/>
                    </a:lnTo>
                    <a:lnTo>
                      <a:pt x="323" y="19"/>
                    </a:lnTo>
                    <a:lnTo>
                      <a:pt x="312" y="15"/>
                    </a:lnTo>
                    <a:lnTo>
                      <a:pt x="302" y="12"/>
                    </a:lnTo>
                    <a:lnTo>
                      <a:pt x="291" y="8"/>
                    </a:lnTo>
                    <a:lnTo>
                      <a:pt x="280" y="6"/>
                    </a:lnTo>
                    <a:lnTo>
                      <a:pt x="268" y="4"/>
                    </a:lnTo>
                    <a:lnTo>
                      <a:pt x="257" y="2"/>
                    </a:lnTo>
                    <a:lnTo>
                      <a:pt x="245" y="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0">
                <a:extLst>
                  <a:ext uri="{FF2B5EF4-FFF2-40B4-BE49-F238E27FC236}">
                    <a16:creationId xmlns:a16="http://schemas.microsoft.com/office/drawing/2014/main" id="{9D87770E-B343-4EE4-8999-37A9976A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34081" y="1471549"/>
                <a:ext cx="54215" cy="57911"/>
              </a:xfrm>
              <a:custGeom>
                <a:avLst/>
                <a:gdLst>
                  <a:gd name="T0" fmla="*/ 31 w 176"/>
                  <a:gd name="T1" fmla="*/ 146 h 188"/>
                  <a:gd name="T2" fmla="*/ 31 w 176"/>
                  <a:gd name="T3" fmla="*/ 42 h 188"/>
                  <a:gd name="T4" fmla="*/ 128 w 176"/>
                  <a:gd name="T5" fmla="*/ 94 h 188"/>
                  <a:gd name="T6" fmla="*/ 31 w 176"/>
                  <a:gd name="T7" fmla="*/ 146 h 188"/>
                  <a:gd name="T8" fmla="*/ 168 w 176"/>
                  <a:gd name="T9" fmla="*/ 80 h 188"/>
                  <a:gd name="T10" fmla="*/ 23 w 176"/>
                  <a:gd name="T11" fmla="*/ 2 h 188"/>
                  <a:gd name="T12" fmla="*/ 20 w 176"/>
                  <a:gd name="T13" fmla="*/ 0 h 188"/>
                  <a:gd name="T14" fmla="*/ 16 w 176"/>
                  <a:gd name="T15" fmla="*/ 0 h 188"/>
                  <a:gd name="T16" fmla="*/ 12 w 176"/>
                  <a:gd name="T17" fmla="*/ 0 h 188"/>
                  <a:gd name="T18" fmla="*/ 8 w 176"/>
                  <a:gd name="T19" fmla="*/ 3 h 188"/>
                  <a:gd name="T20" fmla="*/ 5 w 176"/>
                  <a:gd name="T21" fmla="*/ 5 h 188"/>
                  <a:gd name="T22" fmla="*/ 2 w 176"/>
                  <a:gd name="T23" fmla="*/ 8 h 188"/>
                  <a:gd name="T24" fmla="*/ 1 w 176"/>
                  <a:gd name="T25" fmla="*/ 12 h 188"/>
                  <a:gd name="T26" fmla="*/ 0 w 176"/>
                  <a:gd name="T27" fmla="*/ 16 h 188"/>
                  <a:gd name="T28" fmla="*/ 0 w 176"/>
                  <a:gd name="T29" fmla="*/ 173 h 188"/>
                  <a:gd name="T30" fmla="*/ 1 w 176"/>
                  <a:gd name="T31" fmla="*/ 176 h 188"/>
                  <a:gd name="T32" fmla="*/ 2 w 176"/>
                  <a:gd name="T33" fmla="*/ 180 h 188"/>
                  <a:gd name="T34" fmla="*/ 5 w 176"/>
                  <a:gd name="T35" fmla="*/ 183 h 188"/>
                  <a:gd name="T36" fmla="*/ 8 w 176"/>
                  <a:gd name="T37" fmla="*/ 186 h 188"/>
                  <a:gd name="T38" fmla="*/ 12 w 176"/>
                  <a:gd name="T39" fmla="*/ 187 h 188"/>
                  <a:gd name="T40" fmla="*/ 16 w 176"/>
                  <a:gd name="T41" fmla="*/ 188 h 188"/>
                  <a:gd name="T42" fmla="*/ 20 w 176"/>
                  <a:gd name="T43" fmla="*/ 187 h 188"/>
                  <a:gd name="T44" fmla="*/ 23 w 176"/>
                  <a:gd name="T45" fmla="*/ 186 h 188"/>
                  <a:gd name="T46" fmla="*/ 168 w 176"/>
                  <a:gd name="T47" fmla="*/ 107 h 188"/>
                  <a:gd name="T48" fmla="*/ 171 w 176"/>
                  <a:gd name="T49" fmla="*/ 105 h 188"/>
                  <a:gd name="T50" fmla="*/ 173 w 176"/>
                  <a:gd name="T51" fmla="*/ 102 h 188"/>
                  <a:gd name="T52" fmla="*/ 176 w 176"/>
                  <a:gd name="T53" fmla="*/ 98 h 188"/>
                  <a:gd name="T54" fmla="*/ 176 w 176"/>
                  <a:gd name="T55" fmla="*/ 94 h 188"/>
                  <a:gd name="T56" fmla="*/ 176 w 176"/>
                  <a:gd name="T57" fmla="*/ 89 h 188"/>
                  <a:gd name="T58" fmla="*/ 173 w 176"/>
                  <a:gd name="T59" fmla="*/ 86 h 188"/>
                  <a:gd name="T60" fmla="*/ 171 w 176"/>
                  <a:gd name="T61" fmla="*/ 83 h 188"/>
                  <a:gd name="T62" fmla="*/ 168 w 176"/>
                  <a:gd name="T63" fmla="*/ 8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6" h="188">
                    <a:moveTo>
                      <a:pt x="31" y="146"/>
                    </a:moveTo>
                    <a:lnTo>
                      <a:pt x="31" y="42"/>
                    </a:lnTo>
                    <a:lnTo>
                      <a:pt x="128" y="94"/>
                    </a:lnTo>
                    <a:lnTo>
                      <a:pt x="31" y="146"/>
                    </a:lnTo>
                    <a:close/>
                    <a:moveTo>
                      <a:pt x="168" y="80"/>
                    </a:moveTo>
                    <a:lnTo>
                      <a:pt x="23" y="2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2" y="8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0" y="173"/>
                    </a:lnTo>
                    <a:lnTo>
                      <a:pt x="1" y="176"/>
                    </a:lnTo>
                    <a:lnTo>
                      <a:pt x="2" y="180"/>
                    </a:lnTo>
                    <a:lnTo>
                      <a:pt x="5" y="183"/>
                    </a:lnTo>
                    <a:lnTo>
                      <a:pt x="8" y="186"/>
                    </a:lnTo>
                    <a:lnTo>
                      <a:pt x="12" y="187"/>
                    </a:lnTo>
                    <a:lnTo>
                      <a:pt x="16" y="188"/>
                    </a:lnTo>
                    <a:lnTo>
                      <a:pt x="20" y="187"/>
                    </a:lnTo>
                    <a:lnTo>
                      <a:pt x="23" y="186"/>
                    </a:lnTo>
                    <a:lnTo>
                      <a:pt x="168" y="107"/>
                    </a:lnTo>
                    <a:lnTo>
                      <a:pt x="171" y="105"/>
                    </a:lnTo>
                    <a:lnTo>
                      <a:pt x="173" y="102"/>
                    </a:lnTo>
                    <a:lnTo>
                      <a:pt x="176" y="98"/>
                    </a:lnTo>
                    <a:lnTo>
                      <a:pt x="176" y="94"/>
                    </a:lnTo>
                    <a:lnTo>
                      <a:pt x="176" y="89"/>
                    </a:lnTo>
                    <a:lnTo>
                      <a:pt x="173" y="86"/>
                    </a:lnTo>
                    <a:lnTo>
                      <a:pt x="171" y="83"/>
                    </a:lnTo>
                    <a:lnTo>
                      <a:pt x="168" y="8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12">
              <a:extLst>
                <a:ext uri="{FF2B5EF4-FFF2-40B4-BE49-F238E27FC236}">
                  <a16:creationId xmlns:a16="http://schemas.microsoft.com/office/drawing/2014/main" id="{C487E2D5-E2E0-4AEF-AD69-57E961179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848" y="2159319"/>
              <a:ext cx="5527456" cy="3721809"/>
            </a:xfrm>
            <a:custGeom>
              <a:avLst/>
              <a:gdLst>
                <a:gd name="T0" fmla="*/ 1203 w 1203"/>
                <a:gd name="T1" fmla="*/ 773 h 810"/>
                <a:gd name="T2" fmla="*/ 1176 w 1203"/>
                <a:gd name="T3" fmla="*/ 810 h 810"/>
                <a:gd name="T4" fmla="*/ 28 w 1203"/>
                <a:gd name="T5" fmla="*/ 810 h 810"/>
                <a:gd name="T6" fmla="*/ 0 w 1203"/>
                <a:gd name="T7" fmla="*/ 773 h 810"/>
                <a:gd name="T8" fmla="*/ 0 w 1203"/>
                <a:gd name="T9" fmla="*/ 37 h 810"/>
                <a:gd name="T10" fmla="*/ 28 w 1203"/>
                <a:gd name="T11" fmla="*/ 0 h 810"/>
                <a:gd name="T12" fmla="*/ 1176 w 1203"/>
                <a:gd name="T13" fmla="*/ 0 h 810"/>
                <a:gd name="T14" fmla="*/ 1203 w 1203"/>
                <a:gd name="T15" fmla="*/ 37 h 810"/>
                <a:gd name="T16" fmla="*/ 1203 w 1203"/>
                <a:gd name="T17" fmla="*/ 773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3" h="810">
                  <a:moveTo>
                    <a:pt x="1203" y="773"/>
                  </a:moveTo>
                  <a:cubicBezTo>
                    <a:pt x="1203" y="794"/>
                    <a:pt x="1191" y="810"/>
                    <a:pt x="1176" y="810"/>
                  </a:cubicBezTo>
                  <a:cubicBezTo>
                    <a:pt x="28" y="810"/>
                    <a:pt x="28" y="810"/>
                    <a:pt x="28" y="810"/>
                  </a:cubicBezTo>
                  <a:cubicBezTo>
                    <a:pt x="12" y="810"/>
                    <a:pt x="0" y="794"/>
                    <a:pt x="0" y="77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2" y="0"/>
                    <a:pt x="28" y="0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91" y="0"/>
                    <a:pt x="1203" y="16"/>
                    <a:pt x="1203" y="37"/>
                  </a:cubicBezTo>
                  <a:lnTo>
                    <a:pt x="1203" y="773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Rectangle 13">
              <a:extLst>
                <a:ext uri="{FF2B5EF4-FFF2-40B4-BE49-F238E27FC236}">
                  <a16:creationId xmlns:a16="http://schemas.microsoft.com/office/drawing/2014/main" id="{FE488AD4-71C0-49BD-9313-34EEC546B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858" y="2360439"/>
              <a:ext cx="5103117" cy="3149394"/>
            </a:xfrm>
            <a:prstGeom prst="rect">
              <a:avLst/>
            </a:prstGeom>
            <a:solidFill>
              <a:srgbClr val="FEFDF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Rectangle: Rounded Corners 17">
              <a:extLst>
                <a:ext uri="{FF2B5EF4-FFF2-40B4-BE49-F238E27FC236}">
                  <a16:creationId xmlns:a16="http://schemas.microsoft.com/office/drawing/2014/main" id="{99E0D448-02CC-47EB-A4AD-150D608E7398}"/>
                </a:ext>
              </a:extLst>
            </p:cNvPr>
            <p:cNvSpPr/>
            <p:nvPr/>
          </p:nvSpPr>
          <p:spPr>
            <a:xfrm>
              <a:off x="5686200" y="5708698"/>
              <a:ext cx="806340" cy="15032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F94FDA86-2179-4D92-9344-E71A1134F023}"/>
                </a:ext>
              </a:extLst>
            </p:cNvPr>
            <p:cNvSpPr/>
            <p:nvPr/>
          </p:nvSpPr>
          <p:spPr>
            <a:xfrm>
              <a:off x="3569858" y="2360439"/>
              <a:ext cx="5103117" cy="3149394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TextBox 20">
              <a:extLst>
                <a:ext uri="{FF2B5EF4-FFF2-40B4-BE49-F238E27FC236}">
                  <a16:creationId xmlns:a16="http://schemas.microsoft.com/office/drawing/2014/main" id="{A90C6CCE-F54A-4CCE-81C3-508CE57CB392}"/>
                </a:ext>
              </a:extLst>
            </p:cNvPr>
            <p:cNvSpPr txBox="1"/>
            <p:nvPr/>
          </p:nvSpPr>
          <p:spPr>
            <a:xfrm>
              <a:off x="4249844" y="1113559"/>
              <a:ext cx="3692326" cy="45318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tIns="72000" bIns="72000">
              <a:normAutofit fontScale="77500" lnSpcReduction="200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难度一</a:t>
              </a:r>
            </a:p>
          </p:txBody>
        </p:sp>
      </p:grpSp>
      <p:grpSp>
        <p:nvGrpSpPr>
          <p:cNvPr id="50" name="79790c64-9983-43f6-a83d-911277842dbb">
            <a:extLst>
              <a:ext uri="{FF2B5EF4-FFF2-40B4-BE49-F238E27FC236}">
                <a16:creationId xmlns:a16="http://schemas.microsoft.com/office/drawing/2014/main" id="{74414CE7-7C33-4882-BE83-132EAAAC838E}"/>
              </a:ext>
            </a:extLst>
          </p:cNvPr>
          <p:cNvGrpSpPr>
            <a:grpSpLocks noChangeAspect="1"/>
          </p:cNvGrpSpPr>
          <p:nvPr/>
        </p:nvGrpSpPr>
        <p:grpSpPr>
          <a:xfrm>
            <a:off x="3034339" y="699542"/>
            <a:ext cx="3036168" cy="4443958"/>
            <a:chOff x="3348848" y="4"/>
            <a:chExt cx="5527456" cy="5881124"/>
          </a:xfrm>
        </p:grpSpPr>
        <p:sp>
          <p:nvSpPr>
            <p:cNvPr id="51" name="Rectangle: Top Corners Snipped 1">
              <a:extLst>
                <a:ext uri="{FF2B5EF4-FFF2-40B4-BE49-F238E27FC236}">
                  <a16:creationId xmlns:a16="http://schemas.microsoft.com/office/drawing/2014/main" id="{760971B5-4504-4176-8832-EAC252FE62AF}"/>
                </a:ext>
              </a:extLst>
            </p:cNvPr>
            <p:cNvSpPr/>
            <p:nvPr/>
          </p:nvSpPr>
          <p:spPr>
            <a:xfrm rot="10800000">
              <a:off x="3354097" y="4"/>
              <a:ext cx="5483819" cy="5007429"/>
            </a:xfrm>
            <a:prstGeom prst="snip2Same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52" name="Group 7">
              <a:extLst>
                <a:ext uri="{FF2B5EF4-FFF2-40B4-BE49-F238E27FC236}">
                  <a16:creationId xmlns:a16="http://schemas.microsoft.com/office/drawing/2014/main" id="{5CCFF5A0-75AF-4351-92AA-CB4FC9FE376D}"/>
                </a:ext>
              </a:extLst>
            </p:cNvPr>
            <p:cNvGrpSpPr/>
            <p:nvPr/>
          </p:nvGrpSpPr>
          <p:grpSpPr>
            <a:xfrm>
              <a:off x="5478193" y="3342445"/>
              <a:ext cx="936299" cy="936299"/>
              <a:chOff x="11609634" y="1356959"/>
              <a:chExt cx="287091" cy="287091"/>
            </a:xfrm>
            <a:solidFill>
              <a:schemeClr val="bg1"/>
            </a:solidFill>
          </p:grpSpPr>
          <p:sp>
            <p:nvSpPr>
              <p:cNvPr id="60" name="Freeform: Shape 8">
                <a:extLst>
                  <a:ext uri="{FF2B5EF4-FFF2-40B4-BE49-F238E27FC236}">
                    <a16:creationId xmlns:a16="http://schemas.microsoft.com/office/drawing/2014/main" id="{6B00257F-6BD9-483F-B7E0-0E73A18F8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9634" y="1356959"/>
                <a:ext cx="287091" cy="287091"/>
              </a:xfrm>
              <a:custGeom>
                <a:avLst/>
                <a:gdLst>
                  <a:gd name="T0" fmla="*/ 652 w 932"/>
                  <a:gd name="T1" fmla="*/ 901 h 932"/>
                  <a:gd name="T2" fmla="*/ 901 w 932"/>
                  <a:gd name="T3" fmla="*/ 808 h 932"/>
                  <a:gd name="T4" fmla="*/ 31 w 932"/>
                  <a:gd name="T5" fmla="*/ 808 h 932"/>
                  <a:gd name="T6" fmla="*/ 279 w 932"/>
                  <a:gd name="T7" fmla="*/ 901 h 932"/>
                  <a:gd name="T8" fmla="*/ 31 w 932"/>
                  <a:gd name="T9" fmla="*/ 808 h 932"/>
                  <a:gd name="T10" fmla="*/ 279 w 932"/>
                  <a:gd name="T11" fmla="*/ 31 h 932"/>
                  <a:gd name="T12" fmla="*/ 31 w 932"/>
                  <a:gd name="T13" fmla="*/ 124 h 932"/>
                  <a:gd name="T14" fmla="*/ 901 w 932"/>
                  <a:gd name="T15" fmla="*/ 124 h 932"/>
                  <a:gd name="T16" fmla="*/ 652 w 932"/>
                  <a:gd name="T17" fmla="*/ 31 h 932"/>
                  <a:gd name="T18" fmla="*/ 901 w 932"/>
                  <a:gd name="T19" fmla="*/ 124 h 932"/>
                  <a:gd name="T20" fmla="*/ 310 w 932"/>
                  <a:gd name="T21" fmla="*/ 31 h 932"/>
                  <a:gd name="T22" fmla="*/ 621 w 932"/>
                  <a:gd name="T23" fmla="*/ 124 h 932"/>
                  <a:gd name="T24" fmla="*/ 31 w 932"/>
                  <a:gd name="T25" fmla="*/ 777 h 932"/>
                  <a:gd name="T26" fmla="*/ 901 w 932"/>
                  <a:gd name="T27" fmla="*/ 155 h 932"/>
                  <a:gd name="T28" fmla="*/ 31 w 932"/>
                  <a:gd name="T29" fmla="*/ 777 h 932"/>
                  <a:gd name="T30" fmla="*/ 621 w 932"/>
                  <a:gd name="T31" fmla="*/ 901 h 932"/>
                  <a:gd name="T32" fmla="*/ 310 w 932"/>
                  <a:gd name="T33" fmla="*/ 808 h 932"/>
                  <a:gd name="T34" fmla="*/ 916 w 932"/>
                  <a:gd name="T35" fmla="*/ 0 h 932"/>
                  <a:gd name="T36" fmla="*/ 12 w 932"/>
                  <a:gd name="T37" fmla="*/ 0 h 932"/>
                  <a:gd name="T38" fmla="*/ 7 w 932"/>
                  <a:gd name="T39" fmla="*/ 2 h 932"/>
                  <a:gd name="T40" fmla="*/ 2 w 932"/>
                  <a:gd name="T41" fmla="*/ 7 h 932"/>
                  <a:gd name="T42" fmla="*/ 0 w 932"/>
                  <a:gd name="T43" fmla="*/ 12 h 932"/>
                  <a:gd name="T44" fmla="*/ 0 w 932"/>
                  <a:gd name="T45" fmla="*/ 139 h 932"/>
                  <a:gd name="T46" fmla="*/ 0 w 932"/>
                  <a:gd name="T47" fmla="*/ 917 h 932"/>
                  <a:gd name="T48" fmla="*/ 1 w 932"/>
                  <a:gd name="T49" fmla="*/ 922 h 932"/>
                  <a:gd name="T50" fmla="*/ 4 w 932"/>
                  <a:gd name="T51" fmla="*/ 928 h 932"/>
                  <a:gd name="T52" fmla="*/ 9 w 932"/>
                  <a:gd name="T53" fmla="*/ 931 h 932"/>
                  <a:gd name="T54" fmla="*/ 15 w 932"/>
                  <a:gd name="T55" fmla="*/ 932 h 932"/>
                  <a:gd name="T56" fmla="*/ 920 w 932"/>
                  <a:gd name="T57" fmla="*/ 932 h 932"/>
                  <a:gd name="T58" fmla="*/ 925 w 932"/>
                  <a:gd name="T59" fmla="*/ 929 h 932"/>
                  <a:gd name="T60" fmla="*/ 930 w 932"/>
                  <a:gd name="T61" fmla="*/ 926 h 932"/>
                  <a:gd name="T62" fmla="*/ 932 w 932"/>
                  <a:gd name="T63" fmla="*/ 920 h 932"/>
                  <a:gd name="T64" fmla="*/ 932 w 932"/>
                  <a:gd name="T65" fmla="*/ 792 h 932"/>
                  <a:gd name="T66" fmla="*/ 932 w 932"/>
                  <a:gd name="T67" fmla="*/ 16 h 932"/>
                  <a:gd name="T68" fmla="*/ 931 w 932"/>
                  <a:gd name="T69" fmla="*/ 9 h 932"/>
                  <a:gd name="T70" fmla="*/ 928 w 932"/>
                  <a:gd name="T71" fmla="*/ 5 h 932"/>
                  <a:gd name="T72" fmla="*/ 922 w 932"/>
                  <a:gd name="T73" fmla="*/ 1 h 932"/>
                  <a:gd name="T74" fmla="*/ 916 w 932"/>
                  <a:gd name="T75" fmla="*/ 0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32" h="932">
                    <a:moveTo>
                      <a:pt x="901" y="901"/>
                    </a:moveTo>
                    <a:lnTo>
                      <a:pt x="652" y="901"/>
                    </a:lnTo>
                    <a:lnTo>
                      <a:pt x="652" y="808"/>
                    </a:lnTo>
                    <a:lnTo>
                      <a:pt x="901" y="808"/>
                    </a:lnTo>
                    <a:lnTo>
                      <a:pt x="901" y="901"/>
                    </a:lnTo>
                    <a:close/>
                    <a:moveTo>
                      <a:pt x="31" y="808"/>
                    </a:moveTo>
                    <a:lnTo>
                      <a:pt x="279" y="808"/>
                    </a:lnTo>
                    <a:lnTo>
                      <a:pt x="279" y="901"/>
                    </a:lnTo>
                    <a:lnTo>
                      <a:pt x="31" y="901"/>
                    </a:lnTo>
                    <a:lnTo>
                      <a:pt x="31" y="808"/>
                    </a:lnTo>
                    <a:close/>
                    <a:moveTo>
                      <a:pt x="31" y="31"/>
                    </a:moveTo>
                    <a:lnTo>
                      <a:pt x="279" y="31"/>
                    </a:lnTo>
                    <a:lnTo>
                      <a:pt x="279" y="124"/>
                    </a:lnTo>
                    <a:lnTo>
                      <a:pt x="31" y="124"/>
                    </a:lnTo>
                    <a:lnTo>
                      <a:pt x="31" y="31"/>
                    </a:lnTo>
                    <a:close/>
                    <a:moveTo>
                      <a:pt x="901" y="124"/>
                    </a:moveTo>
                    <a:lnTo>
                      <a:pt x="652" y="124"/>
                    </a:lnTo>
                    <a:lnTo>
                      <a:pt x="652" y="31"/>
                    </a:lnTo>
                    <a:lnTo>
                      <a:pt x="901" y="31"/>
                    </a:lnTo>
                    <a:lnTo>
                      <a:pt x="901" y="124"/>
                    </a:lnTo>
                    <a:close/>
                    <a:moveTo>
                      <a:pt x="310" y="124"/>
                    </a:moveTo>
                    <a:lnTo>
                      <a:pt x="310" y="31"/>
                    </a:lnTo>
                    <a:lnTo>
                      <a:pt x="621" y="31"/>
                    </a:lnTo>
                    <a:lnTo>
                      <a:pt x="621" y="124"/>
                    </a:lnTo>
                    <a:lnTo>
                      <a:pt x="310" y="124"/>
                    </a:lnTo>
                    <a:close/>
                    <a:moveTo>
                      <a:pt x="31" y="777"/>
                    </a:moveTo>
                    <a:lnTo>
                      <a:pt x="31" y="155"/>
                    </a:lnTo>
                    <a:lnTo>
                      <a:pt x="901" y="155"/>
                    </a:lnTo>
                    <a:lnTo>
                      <a:pt x="901" y="777"/>
                    </a:lnTo>
                    <a:lnTo>
                      <a:pt x="31" y="777"/>
                    </a:lnTo>
                    <a:close/>
                    <a:moveTo>
                      <a:pt x="621" y="808"/>
                    </a:moveTo>
                    <a:lnTo>
                      <a:pt x="621" y="901"/>
                    </a:lnTo>
                    <a:lnTo>
                      <a:pt x="310" y="901"/>
                    </a:lnTo>
                    <a:lnTo>
                      <a:pt x="310" y="808"/>
                    </a:lnTo>
                    <a:lnTo>
                      <a:pt x="621" y="808"/>
                    </a:lnTo>
                    <a:close/>
                    <a:moveTo>
                      <a:pt x="916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39"/>
                    </a:lnTo>
                    <a:lnTo>
                      <a:pt x="0" y="792"/>
                    </a:lnTo>
                    <a:lnTo>
                      <a:pt x="0" y="917"/>
                    </a:lnTo>
                    <a:lnTo>
                      <a:pt x="0" y="920"/>
                    </a:lnTo>
                    <a:lnTo>
                      <a:pt x="1" y="922"/>
                    </a:lnTo>
                    <a:lnTo>
                      <a:pt x="2" y="926"/>
                    </a:lnTo>
                    <a:lnTo>
                      <a:pt x="4" y="928"/>
                    </a:lnTo>
                    <a:lnTo>
                      <a:pt x="7" y="929"/>
                    </a:lnTo>
                    <a:lnTo>
                      <a:pt x="9" y="931"/>
                    </a:lnTo>
                    <a:lnTo>
                      <a:pt x="12" y="932"/>
                    </a:lnTo>
                    <a:lnTo>
                      <a:pt x="15" y="932"/>
                    </a:lnTo>
                    <a:lnTo>
                      <a:pt x="916" y="932"/>
                    </a:lnTo>
                    <a:lnTo>
                      <a:pt x="920" y="932"/>
                    </a:lnTo>
                    <a:lnTo>
                      <a:pt x="922" y="931"/>
                    </a:lnTo>
                    <a:lnTo>
                      <a:pt x="925" y="929"/>
                    </a:lnTo>
                    <a:lnTo>
                      <a:pt x="928" y="928"/>
                    </a:lnTo>
                    <a:lnTo>
                      <a:pt x="930" y="926"/>
                    </a:lnTo>
                    <a:lnTo>
                      <a:pt x="931" y="922"/>
                    </a:lnTo>
                    <a:lnTo>
                      <a:pt x="932" y="920"/>
                    </a:lnTo>
                    <a:lnTo>
                      <a:pt x="932" y="917"/>
                    </a:lnTo>
                    <a:lnTo>
                      <a:pt x="932" y="792"/>
                    </a:lnTo>
                    <a:lnTo>
                      <a:pt x="932" y="139"/>
                    </a:lnTo>
                    <a:lnTo>
                      <a:pt x="932" y="16"/>
                    </a:lnTo>
                    <a:lnTo>
                      <a:pt x="932" y="12"/>
                    </a:lnTo>
                    <a:lnTo>
                      <a:pt x="931" y="9"/>
                    </a:lnTo>
                    <a:lnTo>
                      <a:pt x="930" y="7"/>
                    </a:lnTo>
                    <a:lnTo>
                      <a:pt x="928" y="5"/>
                    </a:lnTo>
                    <a:lnTo>
                      <a:pt x="925" y="2"/>
                    </a:lnTo>
                    <a:lnTo>
                      <a:pt x="922" y="1"/>
                    </a:lnTo>
                    <a:lnTo>
                      <a:pt x="920" y="0"/>
                    </a:lnTo>
                    <a:lnTo>
                      <a:pt x="916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Freeform: Shape 9">
                <a:extLst>
                  <a:ext uri="{FF2B5EF4-FFF2-40B4-BE49-F238E27FC236}">
                    <a16:creationId xmlns:a16="http://schemas.microsoft.com/office/drawing/2014/main" id="{54D3A373-C9F7-461F-9A20-D83728494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1099" y="1428424"/>
                <a:ext cx="144162" cy="144162"/>
              </a:xfrm>
              <a:custGeom>
                <a:avLst/>
                <a:gdLst>
                  <a:gd name="T0" fmla="*/ 192 w 466"/>
                  <a:gd name="T1" fmla="*/ 432 h 467"/>
                  <a:gd name="T2" fmla="*/ 137 w 466"/>
                  <a:gd name="T3" fmla="*/ 412 h 467"/>
                  <a:gd name="T4" fmla="*/ 90 w 466"/>
                  <a:gd name="T5" fmla="*/ 377 h 467"/>
                  <a:gd name="T6" fmla="*/ 55 w 466"/>
                  <a:gd name="T7" fmla="*/ 330 h 467"/>
                  <a:gd name="T8" fmla="*/ 35 w 466"/>
                  <a:gd name="T9" fmla="*/ 275 h 467"/>
                  <a:gd name="T10" fmla="*/ 31 w 466"/>
                  <a:gd name="T11" fmla="*/ 214 h 467"/>
                  <a:gd name="T12" fmla="*/ 47 w 466"/>
                  <a:gd name="T13" fmla="*/ 155 h 467"/>
                  <a:gd name="T14" fmla="*/ 77 w 466"/>
                  <a:gd name="T15" fmla="*/ 106 h 467"/>
                  <a:gd name="T16" fmla="*/ 120 w 466"/>
                  <a:gd name="T17" fmla="*/ 66 h 467"/>
                  <a:gd name="T18" fmla="*/ 172 w 466"/>
                  <a:gd name="T19" fmla="*/ 42 h 467"/>
                  <a:gd name="T20" fmla="*/ 232 w 466"/>
                  <a:gd name="T21" fmla="*/ 32 h 467"/>
                  <a:gd name="T22" fmla="*/ 292 w 466"/>
                  <a:gd name="T23" fmla="*/ 42 h 467"/>
                  <a:gd name="T24" fmla="*/ 346 w 466"/>
                  <a:gd name="T25" fmla="*/ 66 h 467"/>
                  <a:gd name="T26" fmla="*/ 389 w 466"/>
                  <a:gd name="T27" fmla="*/ 106 h 467"/>
                  <a:gd name="T28" fmla="*/ 419 w 466"/>
                  <a:gd name="T29" fmla="*/ 156 h 467"/>
                  <a:gd name="T30" fmla="*/ 433 w 466"/>
                  <a:gd name="T31" fmla="*/ 214 h 467"/>
                  <a:gd name="T32" fmla="*/ 430 w 466"/>
                  <a:gd name="T33" fmla="*/ 275 h 467"/>
                  <a:gd name="T34" fmla="*/ 410 w 466"/>
                  <a:gd name="T35" fmla="*/ 330 h 467"/>
                  <a:gd name="T36" fmla="*/ 376 w 466"/>
                  <a:gd name="T37" fmla="*/ 377 h 467"/>
                  <a:gd name="T38" fmla="*/ 329 w 466"/>
                  <a:gd name="T39" fmla="*/ 412 h 467"/>
                  <a:gd name="T40" fmla="*/ 273 w 466"/>
                  <a:gd name="T41" fmla="*/ 432 h 467"/>
                  <a:gd name="T42" fmla="*/ 232 w 466"/>
                  <a:gd name="T43" fmla="*/ 0 h 467"/>
                  <a:gd name="T44" fmla="*/ 197 w 466"/>
                  <a:gd name="T45" fmla="*/ 4 h 467"/>
                  <a:gd name="T46" fmla="*/ 163 w 466"/>
                  <a:gd name="T47" fmla="*/ 12 h 467"/>
                  <a:gd name="T48" fmla="*/ 121 w 466"/>
                  <a:gd name="T49" fmla="*/ 29 h 467"/>
                  <a:gd name="T50" fmla="*/ 68 w 466"/>
                  <a:gd name="T51" fmla="*/ 69 h 467"/>
                  <a:gd name="T52" fmla="*/ 28 w 466"/>
                  <a:gd name="T53" fmla="*/ 123 h 467"/>
                  <a:gd name="T54" fmla="*/ 10 w 466"/>
                  <a:gd name="T55" fmla="*/ 165 h 467"/>
                  <a:gd name="T56" fmla="*/ 2 w 466"/>
                  <a:gd name="T57" fmla="*/ 198 h 467"/>
                  <a:gd name="T58" fmla="*/ 0 w 466"/>
                  <a:gd name="T59" fmla="*/ 234 h 467"/>
                  <a:gd name="T60" fmla="*/ 2 w 466"/>
                  <a:gd name="T61" fmla="*/ 269 h 467"/>
                  <a:gd name="T62" fmla="*/ 10 w 466"/>
                  <a:gd name="T63" fmla="*/ 304 h 467"/>
                  <a:gd name="T64" fmla="*/ 28 w 466"/>
                  <a:gd name="T65" fmla="*/ 345 h 467"/>
                  <a:gd name="T66" fmla="*/ 68 w 466"/>
                  <a:gd name="T67" fmla="*/ 398 h 467"/>
                  <a:gd name="T68" fmla="*/ 121 w 466"/>
                  <a:gd name="T69" fmla="*/ 439 h 467"/>
                  <a:gd name="T70" fmla="*/ 163 w 466"/>
                  <a:gd name="T71" fmla="*/ 457 h 467"/>
                  <a:gd name="T72" fmla="*/ 197 w 466"/>
                  <a:gd name="T73" fmla="*/ 465 h 467"/>
                  <a:gd name="T74" fmla="*/ 232 w 466"/>
                  <a:gd name="T75" fmla="*/ 467 h 467"/>
                  <a:gd name="T76" fmla="*/ 268 w 466"/>
                  <a:gd name="T77" fmla="*/ 465 h 467"/>
                  <a:gd name="T78" fmla="*/ 302 w 466"/>
                  <a:gd name="T79" fmla="*/ 457 h 467"/>
                  <a:gd name="T80" fmla="*/ 343 w 466"/>
                  <a:gd name="T81" fmla="*/ 439 h 467"/>
                  <a:gd name="T82" fmla="*/ 398 w 466"/>
                  <a:gd name="T83" fmla="*/ 399 h 467"/>
                  <a:gd name="T84" fmla="*/ 438 w 466"/>
                  <a:gd name="T85" fmla="*/ 345 h 467"/>
                  <a:gd name="T86" fmla="*/ 456 w 466"/>
                  <a:gd name="T87" fmla="*/ 304 h 467"/>
                  <a:gd name="T88" fmla="*/ 463 w 466"/>
                  <a:gd name="T89" fmla="*/ 269 h 467"/>
                  <a:gd name="T90" fmla="*/ 466 w 466"/>
                  <a:gd name="T91" fmla="*/ 234 h 467"/>
                  <a:gd name="T92" fmla="*/ 463 w 466"/>
                  <a:gd name="T93" fmla="*/ 198 h 467"/>
                  <a:gd name="T94" fmla="*/ 456 w 466"/>
                  <a:gd name="T95" fmla="*/ 165 h 467"/>
                  <a:gd name="T96" fmla="*/ 438 w 466"/>
                  <a:gd name="T97" fmla="*/ 123 h 467"/>
                  <a:gd name="T98" fmla="*/ 398 w 466"/>
                  <a:gd name="T99" fmla="*/ 69 h 467"/>
                  <a:gd name="T100" fmla="*/ 343 w 466"/>
                  <a:gd name="T101" fmla="*/ 29 h 467"/>
                  <a:gd name="T102" fmla="*/ 302 w 466"/>
                  <a:gd name="T103" fmla="*/ 12 h 467"/>
                  <a:gd name="T104" fmla="*/ 268 w 466"/>
                  <a:gd name="T105" fmla="*/ 4 h 467"/>
                  <a:gd name="T106" fmla="*/ 232 w 466"/>
                  <a:gd name="T107" fmla="*/ 0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6" h="467">
                    <a:moveTo>
                      <a:pt x="232" y="436"/>
                    </a:moveTo>
                    <a:lnTo>
                      <a:pt x="212" y="435"/>
                    </a:lnTo>
                    <a:lnTo>
                      <a:pt x="192" y="432"/>
                    </a:lnTo>
                    <a:lnTo>
                      <a:pt x="172" y="427"/>
                    </a:lnTo>
                    <a:lnTo>
                      <a:pt x="155" y="420"/>
                    </a:lnTo>
                    <a:lnTo>
                      <a:pt x="137" y="412"/>
                    </a:lnTo>
                    <a:lnTo>
                      <a:pt x="120" y="402"/>
                    </a:lnTo>
                    <a:lnTo>
                      <a:pt x="105" y="390"/>
                    </a:lnTo>
                    <a:lnTo>
                      <a:pt x="90" y="377"/>
                    </a:lnTo>
                    <a:lnTo>
                      <a:pt x="77" y="363"/>
                    </a:lnTo>
                    <a:lnTo>
                      <a:pt x="66" y="347"/>
                    </a:lnTo>
                    <a:lnTo>
                      <a:pt x="55" y="330"/>
                    </a:lnTo>
                    <a:lnTo>
                      <a:pt x="47" y="313"/>
                    </a:lnTo>
                    <a:lnTo>
                      <a:pt x="40" y="294"/>
                    </a:lnTo>
                    <a:lnTo>
                      <a:pt x="35" y="275"/>
                    </a:lnTo>
                    <a:lnTo>
                      <a:pt x="31" y="255"/>
                    </a:lnTo>
                    <a:lnTo>
                      <a:pt x="30" y="234"/>
                    </a:lnTo>
                    <a:lnTo>
                      <a:pt x="31" y="214"/>
                    </a:lnTo>
                    <a:lnTo>
                      <a:pt x="35" y="194"/>
                    </a:lnTo>
                    <a:lnTo>
                      <a:pt x="40" y="174"/>
                    </a:lnTo>
                    <a:lnTo>
                      <a:pt x="47" y="155"/>
                    </a:lnTo>
                    <a:lnTo>
                      <a:pt x="55" y="138"/>
                    </a:lnTo>
                    <a:lnTo>
                      <a:pt x="66" y="122"/>
                    </a:lnTo>
                    <a:lnTo>
                      <a:pt x="77" y="106"/>
                    </a:lnTo>
                    <a:lnTo>
                      <a:pt x="90" y="92"/>
                    </a:lnTo>
                    <a:lnTo>
                      <a:pt x="105" y="78"/>
                    </a:lnTo>
                    <a:lnTo>
                      <a:pt x="120" y="66"/>
                    </a:lnTo>
                    <a:lnTo>
                      <a:pt x="137" y="56"/>
                    </a:lnTo>
                    <a:lnTo>
                      <a:pt x="155" y="48"/>
                    </a:lnTo>
                    <a:lnTo>
                      <a:pt x="172" y="42"/>
                    </a:lnTo>
                    <a:lnTo>
                      <a:pt x="192" y="36"/>
                    </a:lnTo>
                    <a:lnTo>
                      <a:pt x="212" y="33"/>
                    </a:lnTo>
                    <a:lnTo>
                      <a:pt x="232" y="32"/>
                    </a:lnTo>
                    <a:lnTo>
                      <a:pt x="253" y="33"/>
                    </a:lnTo>
                    <a:lnTo>
                      <a:pt x="273" y="36"/>
                    </a:lnTo>
                    <a:lnTo>
                      <a:pt x="292" y="42"/>
                    </a:lnTo>
                    <a:lnTo>
                      <a:pt x="311" y="48"/>
                    </a:lnTo>
                    <a:lnTo>
                      <a:pt x="329" y="56"/>
                    </a:lnTo>
                    <a:lnTo>
                      <a:pt x="346" y="66"/>
                    </a:lnTo>
                    <a:lnTo>
                      <a:pt x="361" y="78"/>
                    </a:lnTo>
                    <a:lnTo>
                      <a:pt x="376" y="92"/>
                    </a:lnTo>
                    <a:lnTo>
                      <a:pt x="389" y="106"/>
                    </a:lnTo>
                    <a:lnTo>
                      <a:pt x="400" y="122"/>
                    </a:lnTo>
                    <a:lnTo>
                      <a:pt x="410" y="138"/>
                    </a:lnTo>
                    <a:lnTo>
                      <a:pt x="419" y="156"/>
                    </a:lnTo>
                    <a:lnTo>
                      <a:pt x="426" y="174"/>
                    </a:lnTo>
                    <a:lnTo>
                      <a:pt x="430" y="194"/>
                    </a:lnTo>
                    <a:lnTo>
                      <a:pt x="433" y="214"/>
                    </a:lnTo>
                    <a:lnTo>
                      <a:pt x="435" y="234"/>
                    </a:lnTo>
                    <a:lnTo>
                      <a:pt x="433" y="255"/>
                    </a:lnTo>
                    <a:lnTo>
                      <a:pt x="430" y="275"/>
                    </a:lnTo>
                    <a:lnTo>
                      <a:pt x="426" y="294"/>
                    </a:lnTo>
                    <a:lnTo>
                      <a:pt x="419" y="313"/>
                    </a:lnTo>
                    <a:lnTo>
                      <a:pt x="410" y="330"/>
                    </a:lnTo>
                    <a:lnTo>
                      <a:pt x="400" y="347"/>
                    </a:lnTo>
                    <a:lnTo>
                      <a:pt x="389" y="363"/>
                    </a:lnTo>
                    <a:lnTo>
                      <a:pt x="376" y="377"/>
                    </a:lnTo>
                    <a:lnTo>
                      <a:pt x="361" y="389"/>
                    </a:lnTo>
                    <a:lnTo>
                      <a:pt x="346" y="402"/>
                    </a:lnTo>
                    <a:lnTo>
                      <a:pt x="329" y="412"/>
                    </a:lnTo>
                    <a:lnTo>
                      <a:pt x="311" y="420"/>
                    </a:lnTo>
                    <a:lnTo>
                      <a:pt x="292" y="427"/>
                    </a:lnTo>
                    <a:lnTo>
                      <a:pt x="273" y="432"/>
                    </a:lnTo>
                    <a:lnTo>
                      <a:pt x="253" y="435"/>
                    </a:lnTo>
                    <a:lnTo>
                      <a:pt x="232" y="436"/>
                    </a:lnTo>
                    <a:close/>
                    <a:moveTo>
                      <a:pt x="232" y="0"/>
                    </a:moveTo>
                    <a:lnTo>
                      <a:pt x="221" y="2"/>
                    </a:lnTo>
                    <a:lnTo>
                      <a:pt x="209" y="2"/>
                    </a:lnTo>
                    <a:lnTo>
                      <a:pt x="197" y="4"/>
                    </a:lnTo>
                    <a:lnTo>
                      <a:pt x="186" y="6"/>
                    </a:lnTo>
                    <a:lnTo>
                      <a:pt x="175" y="8"/>
                    </a:lnTo>
                    <a:lnTo>
                      <a:pt x="163" y="12"/>
                    </a:lnTo>
                    <a:lnTo>
                      <a:pt x="152" y="15"/>
                    </a:lnTo>
                    <a:lnTo>
                      <a:pt x="142" y="19"/>
                    </a:lnTo>
                    <a:lnTo>
                      <a:pt x="121" y="29"/>
                    </a:lnTo>
                    <a:lnTo>
                      <a:pt x="102" y="40"/>
                    </a:lnTo>
                    <a:lnTo>
                      <a:pt x="85" y="54"/>
                    </a:lnTo>
                    <a:lnTo>
                      <a:pt x="68" y="69"/>
                    </a:lnTo>
                    <a:lnTo>
                      <a:pt x="52" y="86"/>
                    </a:lnTo>
                    <a:lnTo>
                      <a:pt x="39" y="104"/>
                    </a:lnTo>
                    <a:lnTo>
                      <a:pt x="28" y="123"/>
                    </a:lnTo>
                    <a:lnTo>
                      <a:pt x="18" y="144"/>
                    </a:lnTo>
                    <a:lnTo>
                      <a:pt x="14" y="154"/>
                    </a:lnTo>
                    <a:lnTo>
                      <a:pt x="10" y="165"/>
                    </a:lnTo>
                    <a:lnTo>
                      <a:pt x="7" y="176"/>
                    </a:lnTo>
                    <a:lnTo>
                      <a:pt x="5" y="187"/>
                    </a:lnTo>
                    <a:lnTo>
                      <a:pt x="2" y="198"/>
                    </a:lnTo>
                    <a:lnTo>
                      <a:pt x="1" y="210"/>
                    </a:lnTo>
                    <a:lnTo>
                      <a:pt x="0" y="222"/>
                    </a:lnTo>
                    <a:lnTo>
                      <a:pt x="0" y="234"/>
                    </a:lnTo>
                    <a:lnTo>
                      <a:pt x="0" y="246"/>
                    </a:lnTo>
                    <a:lnTo>
                      <a:pt x="1" y="258"/>
                    </a:lnTo>
                    <a:lnTo>
                      <a:pt x="2" y="269"/>
                    </a:lnTo>
                    <a:lnTo>
                      <a:pt x="5" y="280"/>
                    </a:lnTo>
                    <a:lnTo>
                      <a:pt x="7" y="293"/>
                    </a:lnTo>
                    <a:lnTo>
                      <a:pt x="10" y="304"/>
                    </a:lnTo>
                    <a:lnTo>
                      <a:pt x="14" y="314"/>
                    </a:lnTo>
                    <a:lnTo>
                      <a:pt x="18" y="325"/>
                    </a:lnTo>
                    <a:lnTo>
                      <a:pt x="28" y="345"/>
                    </a:lnTo>
                    <a:lnTo>
                      <a:pt x="39" y="364"/>
                    </a:lnTo>
                    <a:lnTo>
                      <a:pt x="52" y="383"/>
                    </a:lnTo>
                    <a:lnTo>
                      <a:pt x="68" y="398"/>
                    </a:lnTo>
                    <a:lnTo>
                      <a:pt x="85" y="414"/>
                    </a:lnTo>
                    <a:lnTo>
                      <a:pt x="102" y="427"/>
                    </a:lnTo>
                    <a:lnTo>
                      <a:pt x="121" y="439"/>
                    </a:lnTo>
                    <a:lnTo>
                      <a:pt x="142" y="449"/>
                    </a:lnTo>
                    <a:lnTo>
                      <a:pt x="152" y="453"/>
                    </a:lnTo>
                    <a:lnTo>
                      <a:pt x="163" y="457"/>
                    </a:lnTo>
                    <a:lnTo>
                      <a:pt x="175" y="459"/>
                    </a:lnTo>
                    <a:lnTo>
                      <a:pt x="186" y="463"/>
                    </a:lnTo>
                    <a:lnTo>
                      <a:pt x="197" y="465"/>
                    </a:lnTo>
                    <a:lnTo>
                      <a:pt x="209" y="466"/>
                    </a:lnTo>
                    <a:lnTo>
                      <a:pt x="221" y="467"/>
                    </a:lnTo>
                    <a:lnTo>
                      <a:pt x="232" y="467"/>
                    </a:lnTo>
                    <a:lnTo>
                      <a:pt x="245" y="467"/>
                    </a:lnTo>
                    <a:lnTo>
                      <a:pt x="257" y="466"/>
                    </a:lnTo>
                    <a:lnTo>
                      <a:pt x="268" y="465"/>
                    </a:lnTo>
                    <a:lnTo>
                      <a:pt x="280" y="463"/>
                    </a:lnTo>
                    <a:lnTo>
                      <a:pt x="291" y="459"/>
                    </a:lnTo>
                    <a:lnTo>
                      <a:pt x="302" y="457"/>
                    </a:lnTo>
                    <a:lnTo>
                      <a:pt x="312" y="453"/>
                    </a:lnTo>
                    <a:lnTo>
                      <a:pt x="323" y="449"/>
                    </a:lnTo>
                    <a:lnTo>
                      <a:pt x="343" y="439"/>
                    </a:lnTo>
                    <a:lnTo>
                      <a:pt x="363" y="427"/>
                    </a:lnTo>
                    <a:lnTo>
                      <a:pt x="381" y="414"/>
                    </a:lnTo>
                    <a:lnTo>
                      <a:pt x="398" y="399"/>
                    </a:lnTo>
                    <a:lnTo>
                      <a:pt x="412" y="383"/>
                    </a:lnTo>
                    <a:lnTo>
                      <a:pt x="426" y="364"/>
                    </a:lnTo>
                    <a:lnTo>
                      <a:pt x="438" y="345"/>
                    </a:lnTo>
                    <a:lnTo>
                      <a:pt x="448" y="325"/>
                    </a:lnTo>
                    <a:lnTo>
                      <a:pt x="451" y="314"/>
                    </a:lnTo>
                    <a:lnTo>
                      <a:pt x="456" y="304"/>
                    </a:lnTo>
                    <a:lnTo>
                      <a:pt x="459" y="293"/>
                    </a:lnTo>
                    <a:lnTo>
                      <a:pt x="461" y="280"/>
                    </a:lnTo>
                    <a:lnTo>
                      <a:pt x="463" y="269"/>
                    </a:lnTo>
                    <a:lnTo>
                      <a:pt x="465" y="258"/>
                    </a:lnTo>
                    <a:lnTo>
                      <a:pt x="466" y="246"/>
                    </a:lnTo>
                    <a:lnTo>
                      <a:pt x="466" y="234"/>
                    </a:lnTo>
                    <a:lnTo>
                      <a:pt x="466" y="222"/>
                    </a:lnTo>
                    <a:lnTo>
                      <a:pt x="465" y="210"/>
                    </a:lnTo>
                    <a:lnTo>
                      <a:pt x="463" y="198"/>
                    </a:lnTo>
                    <a:lnTo>
                      <a:pt x="461" y="187"/>
                    </a:lnTo>
                    <a:lnTo>
                      <a:pt x="459" y="176"/>
                    </a:lnTo>
                    <a:lnTo>
                      <a:pt x="456" y="165"/>
                    </a:lnTo>
                    <a:lnTo>
                      <a:pt x="451" y="154"/>
                    </a:lnTo>
                    <a:lnTo>
                      <a:pt x="448" y="144"/>
                    </a:lnTo>
                    <a:lnTo>
                      <a:pt x="438" y="123"/>
                    </a:lnTo>
                    <a:lnTo>
                      <a:pt x="426" y="104"/>
                    </a:lnTo>
                    <a:lnTo>
                      <a:pt x="412" y="86"/>
                    </a:lnTo>
                    <a:lnTo>
                      <a:pt x="398" y="69"/>
                    </a:lnTo>
                    <a:lnTo>
                      <a:pt x="381" y="54"/>
                    </a:lnTo>
                    <a:lnTo>
                      <a:pt x="363" y="40"/>
                    </a:lnTo>
                    <a:lnTo>
                      <a:pt x="343" y="29"/>
                    </a:lnTo>
                    <a:lnTo>
                      <a:pt x="323" y="19"/>
                    </a:lnTo>
                    <a:lnTo>
                      <a:pt x="312" y="15"/>
                    </a:lnTo>
                    <a:lnTo>
                      <a:pt x="302" y="12"/>
                    </a:lnTo>
                    <a:lnTo>
                      <a:pt x="291" y="8"/>
                    </a:lnTo>
                    <a:lnTo>
                      <a:pt x="280" y="6"/>
                    </a:lnTo>
                    <a:lnTo>
                      <a:pt x="268" y="4"/>
                    </a:lnTo>
                    <a:lnTo>
                      <a:pt x="257" y="2"/>
                    </a:lnTo>
                    <a:lnTo>
                      <a:pt x="245" y="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Freeform: Shape 10">
                <a:extLst>
                  <a:ext uri="{FF2B5EF4-FFF2-40B4-BE49-F238E27FC236}">
                    <a16:creationId xmlns:a16="http://schemas.microsoft.com/office/drawing/2014/main" id="{64A4E659-3BCA-41EE-AEE6-3EF80FCED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34081" y="1471549"/>
                <a:ext cx="54215" cy="57911"/>
              </a:xfrm>
              <a:custGeom>
                <a:avLst/>
                <a:gdLst>
                  <a:gd name="T0" fmla="*/ 31 w 176"/>
                  <a:gd name="T1" fmla="*/ 146 h 188"/>
                  <a:gd name="T2" fmla="*/ 31 w 176"/>
                  <a:gd name="T3" fmla="*/ 42 h 188"/>
                  <a:gd name="T4" fmla="*/ 128 w 176"/>
                  <a:gd name="T5" fmla="*/ 94 h 188"/>
                  <a:gd name="T6" fmla="*/ 31 w 176"/>
                  <a:gd name="T7" fmla="*/ 146 h 188"/>
                  <a:gd name="T8" fmla="*/ 168 w 176"/>
                  <a:gd name="T9" fmla="*/ 80 h 188"/>
                  <a:gd name="T10" fmla="*/ 23 w 176"/>
                  <a:gd name="T11" fmla="*/ 2 h 188"/>
                  <a:gd name="T12" fmla="*/ 20 w 176"/>
                  <a:gd name="T13" fmla="*/ 0 h 188"/>
                  <a:gd name="T14" fmla="*/ 16 w 176"/>
                  <a:gd name="T15" fmla="*/ 0 h 188"/>
                  <a:gd name="T16" fmla="*/ 12 w 176"/>
                  <a:gd name="T17" fmla="*/ 0 h 188"/>
                  <a:gd name="T18" fmla="*/ 8 w 176"/>
                  <a:gd name="T19" fmla="*/ 3 h 188"/>
                  <a:gd name="T20" fmla="*/ 5 w 176"/>
                  <a:gd name="T21" fmla="*/ 5 h 188"/>
                  <a:gd name="T22" fmla="*/ 2 w 176"/>
                  <a:gd name="T23" fmla="*/ 8 h 188"/>
                  <a:gd name="T24" fmla="*/ 1 w 176"/>
                  <a:gd name="T25" fmla="*/ 12 h 188"/>
                  <a:gd name="T26" fmla="*/ 0 w 176"/>
                  <a:gd name="T27" fmla="*/ 16 h 188"/>
                  <a:gd name="T28" fmla="*/ 0 w 176"/>
                  <a:gd name="T29" fmla="*/ 173 h 188"/>
                  <a:gd name="T30" fmla="*/ 1 w 176"/>
                  <a:gd name="T31" fmla="*/ 176 h 188"/>
                  <a:gd name="T32" fmla="*/ 2 w 176"/>
                  <a:gd name="T33" fmla="*/ 180 h 188"/>
                  <a:gd name="T34" fmla="*/ 5 w 176"/>
                  <a:gd name="T35" fmla="*/ 183 h 188"/>
                  <a:gd name="T36" fmla="*/ 8 w 176"/>
                  <a:gd name="T37" fmla="*/ 186 h 188"/>
                  <a:gd name="T38" fmla="*/ 12 w 176"/>
                  <a:gd name="T39" fmla="*/ 187 h 188"/>
                  <a:gd name="T40" fmla="*/ 16 w 176"/>
                  <a:gd name="T41" fmla="*/ 188 h 188"/>
                  <a:gd name="T42" fmla="*/ 20 w 176"/>
                  <a:gd name="T43" fmla="*/ 187 h 188"/>
                  <a:gd name="T44" fmla="*/ 23 w 176"/>
                  <a:gd name="T45" fmla="*/ 186 h 188"/>
                  <a:gd name="T46" fmla="*/ 168 w 176"/>
                  <a:gd name="T47" fmla="*/ 107 h 188"/>
                  <a:gd name="T48" fmla="*/ 171 w 176"/>
                  <a:gd name="T49" fmla="*/ 105 h 188"/>
                  <a:gd name="T50" fmla="*/ 173 w 176"/>
                  <a:gd name="T51" fmla="*/ 102 h 188"/>
                  <a:gd name="T52" fmla="*/ 176 w 176"/>
                  <a:gd name="T53" fmla="*/ 98 h 188"/>
                  <a:gd name="T54" fmla="*/ 176 w 176"/>
                  <a:gd name="T55" fmla="*/ 94 h 188"/>
                  <a:gd name="T56" fmla="*/ 176 w 176"/>
                  <a:gd name="T57" fmla="*/ 89 h 188"/>
                  <a:gd name="T58" fmla="*/ 173 w 176"/>
                  <a:gd name="T59" fmla="*/ 86 h 188"/>
                  <a:gd name="T60" fmla="*/ 171 w 176"/>
                  <a:gd name="T61" fmla="*/ 83 h 188"/>
                  <a:gd name="T62" fmla="*/ 168 w 176"/>
                  <a:gd name="T63" fmla="*/ 8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6" h="188">
                    <a:moveTo>
                      <a:pt x="31" y="146"/>
                    </a:moveTo>
                    <a:lnTo>
                      <a:pt x="31" y="42"/>
                    </a:lnTo>
                    <a:lnTo>
                      <a:pt x="128" y="94"/>
                    </a:lnTo>
                    <a:lnTo>
                      <a:pt x="31" y="146"/>
                    </a:lnTo>
                    <a:close/>
                    <a:moveTo>
                      <a:pt x="168" y="80"/>
                    </a:moveTo>
                    <a:lnTo>
                      <a:pt x="23" y="2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2" y="8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0" y="173"/>
                    </a:lnTo>
                    <a:lnTo>
                      <a:pt x="1" y="176"/>
                    </a:lnTo>
                    <a:lnTo>
                      <a:pt x="2" y="180"/>
                    </a:lnTo>
                    <a:lnTo>
                      <a:pt x="5" y="183"/>
                    </a:lnTo>
                    <a:lnTo>
                      <a:pt x="8" y="186"/>
                    </a:lnTo>
                    <a:lnTo>
                      <a:pt x="12" y="187"/>
                    </a:lnTo>
                    <a:lnTo>
                      <a:pt x="16" y="188"/>
                    </a:lnTo>
                    <a:lnTo>
                      <a:pt x="20" y="187"/>
                    </a:lnTo>
                    <a:lnTo>
                      <a:pt x="23" y="186"/>
                    </a:lnTo>
                    <a:lnTo>
                      <a:pt x="168" y="107"/>
                    </a:lnTo>
                    <a:lnTo>
                      <a:pt x="171" y="105"/>
                    </a:lnTo>
                    <a:lnTo>
                      <a:pt x="173" y="102"/>
                    </a:lnTo>
                    <a:lnTo>
                      <a:pt x="176" y="98"/>
                    </a:lnTo>
                    <a:lnTo>
                      <a:pt x="176" y="94"/>
                    </a:lnTo>
                    <a:lnTo>
                      <a:pt x="176" y="89"/>
                    </a:lnTo>
                    <a:lnTo>
                      <a:pt x="173" y="86"/>
                    </a:lnTo>
                    <a:lnTo>
                      <a:pt x="171" y="83"/>
                    </a:lnTo>
                    <a:lnTo>
                      <a:pt x="168" y="8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: Shape 12">
              <a:extLst>
                <a:ext uri="{FF2B5EF4-FFF2-40B4-BE49-F238E27FC236}">
                  <a16:creationId xmlns:a16="http://schemas.microsoft.com/office/drawing/2014/main" id="{04A9E90A-3BB4-4BB8-8664-FE79A047A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848" y="2159319"/>
              <a:ext cx="5527456" cy="3721809"/>
            </a:xfrm>
            <a:custGeom>
              <a:avLst/>
              <a:gdLst>
                <a:gd name="T0" fmla="*/ 1203 w 1203"/>
                <a:gd name="T1" fmla="*/ 773 h 810"/>
                <a:gd name="T2" fmla="*/ 1176 w 1203"/>
                <a:gd name="T3" fmla="*/ 810 h 810"/>
                <a:gd name="T4" fmla="*/ 28 w 1203"/>
                <a:gd name="T5" fmla="*/ 810 h 810"/>
                <a:gd name="T6" fmla="*/ 0 w 1203"/>
                <a:gd name="T7" fmla="*/ 773 h 810"/>
                <a:gd name="T8" fmla="*/ 0 w 1203"/>
                <a:gd name="T9" fmla="*/ 37 h 810"/>
                <a:gd name="T10" fmla="*/ 28 w 1203"/>
                <a:gd name="T11" fmla="*/ 0 h 810"/>
                <a:gd name="T12" fmla="*/ 1176 w 1203"/>
                <a:gd name="T13" fmla="*/ 0 h 810"/>
                <a:gd name="T14" fmla="*/ 1203 w 1203"/>
                <a:gd name="T15" fmla="*/ 37 h 810"/>
                <a:gd name="T16" fmla="*/ 1203 w 1203"/>
                <a:gd name="T17" fmla="*/ 773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3" h="810">
                  <a:moveTo>
                    <a:pt x="1203" y="773"/>
                  </a:moveTo>
                  <a:cubicBezTo>
                    <a:pt x="1203" y="794"/>
                    <a:pt x="1191" y="810"/>
                    <a:pt x="1176" y="810"/>
                  </a:cubicBezTo>
                  <a:cubicBezTo>
                    <a:pt x="28" y="810"/>
                    <a:pt x="28" y="810"/>
                    <a:pt x="28" y="810"/>
                  </a:cubicBezTo>
                  <a:cubicBezTo>
                    <a:pt x="12" y="810"/>
                    <a:pt x="0" y="794"/>
                    <a:pt x="0" y="77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2" y="0"/>
                    <a:pt x="28" y="0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91" y="0"/>
                    <a:pt x="1203" y="16"/>
                    <a:pt x="1203" y="37"/>
                  </a:cubicBezTo>
                  <a:lnTo>
                    <a:pt x="1203" y="773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F986430-3435-40D9-BEE2-C2D1CB98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858" y="2360439"/>
              <a:ext cx="5103117" cy="3149394"/>
            </a:xfrm>
            <a:prstGeom prst="rect">
              <a:avLst/>
            </a:prstGeom>
            <a:solidFill>
              <a:srgbClr val="FEFDF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Rectangle: Rounded Corners 17">
              <a:extLst>
                <a:ext uri="{FF2B5EF4-FFF2-40B4-BE49-F238E27FC236}">
                  <a16:creationId xmlns:a16="http://schemas.microsoft.com/office/drawing/2014/main" id="{4601EA3E-63FB-4A4E-B25E-83B174D68B11}"/>
                </a:ext>
              </a:extLst>
            </p:cNvPr>
            <p:cNvSpPr/>
            <p:nvPr/>
          </p:nvSpPr>
          <p:spPr>
            <a:xfrm>
              <a:off x="5686200" y="5708698"/>
              <a:ext cx="806340" cy="15032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Rectangle 3">
              <a:extLst>
                <a:ext uri="{FF2B5EF4-FFF2-40B4-BE49-F238E27FC236}">
                  <a16:creationId xmlns:a16="http://schemas.microsoft.com/office/drawing/2014/main" id="{3348828F-9868-493C-B5B4-352E236CC791}"/>
                </a:ext>
              </a:extLst>
            </p:cNvPr>
            <p:cNvSpPr/>
            <p:nvPr/>
          </p:nvSpPr>
          <p:spPr>
            <a:xfrm>
              <a:off x="3569858" y="2360439"/>
              <a:ext cx="5103117" cy="3149394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TextBox 20">
              <a:extLst>
                <a:ext uri="{FF2B5EF4-FFF2-40B4-BE49-F238E27FC236}">
                  <a16:creationId xmlns:a16="http://schemas.microsoft.com/office/drawing/2014/main" id="{F8B1BDC0-82A1-443F-968B-CD571ED93169}"/>
                </a:ext>
              </a:extLst>
            </p:cNvPr>
            <p:cNvSpPr txBox="1"/>
            <p:nvPr/>
          </p:nvSpPr>
          <p:spPr>
            <a:xfrm>
              <a:off x="4249844" y="1113559"/>
              <a:ext cx="3692326" cy="45318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tIns="72000" bIns="72000">
              <a:normAutofit fontScale="77500" lnSpcReduction="200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难度二</a:t>
              </a:r>
            </a:p>
          </p:txBody>
        </p:sp>
      </p:grpSp>
      <p:grpSp>
        <p:nvGrpSpPr>
          <p:cNvPr id="63" name="79790c64-9983-43f6-a83d-911277842dbb">
            <a:extLst>
              <a:ext uri="{FF2B5EF4-FFF2-40B4-BE49-F238E27FC236}">
                <a16:creationId xmlns:a16="http://schemas.microsoft.com/office/drawing/2014/main" id="{2CD9D4F7-0C80-4DE3-9E3A-C6171CAA10AE}"/>
              </a:ext>
            </a:extLst>
          </p:cNvPr>
          <p:cNvGrpSpPr>
            <a:grpSpLocks noChangeAspect="1"/>
          </p:cNvGrpSpPr>
          <p:nvPr/>
        </p:nvGrpSpPr>
        <p:grpSpPr>
          <a:xfrm>
            <a:off x="6045014" y="699542"/>
            <a:ext cx="3036168" cy="4443958"/>
            <a:chOff x="3348848" y="4"/>
            <a:chExt cx="5527456" cy="5881124"/>
          </a:xfrm>
        </p:grpSpPr>
        <p:sp>
          <p:nvSpPr>
            <p:cNvPr id="64" name="Rectangle: Top Corners Snipped 1">
              <a:extLst>
                <a:ext uri="{FF2B5EF4-FFF2-40B4-BE49-F238E27FC236}">
                  <a16:creationId xmlns:a16="http://schemas.microsoft.com/office/drawing/2014/main" id="{2625E1C8-CE08-49AC-839B-23DA0B7FA511}"/>
                </a:ext>
              </a:extLst>
            </p:cNvPr>
            <p:cNvSpPr/>
            <p:nvPr/>
          </p:nvSpPr>
          <p:spPr>
            <a:xfrm rot="10800000">
              <a:off x="3354097" y="4"/>
              <a:ext cx="5483819" cy="5007429"/>
            </a:xfrm>
            <a:prstGeom prst="snip2Same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65" name="Group 7">
              <a:extLst>
                <a:ext uri="{FF2B5EF4-FFF2-40B4-BE49-F238E27FC236}">
                  <a16:creationId xmlns:a16="http://schemas.microsoft.com/office/drawing/2014/main" id="{E77E5F63-5AD4-41ED-9A03-446ED5C1D269}"/>
                </a:ext>
              </a:extLst>
            </p:cNvPr>
            <p:cNvGrpSpPr/>
            <p:nvPr/>
          </p:nvGrpSpPr>
          <p:grpSpPr>
            <a:xfrm>
              <a:off x="5478193" y="3342445"/>
              <a:ext cx="936299" cy="936299"/>
              <a:chOff x="11609634" y="1356959"/>
              <a:chExt cx="287091" cy="287091"/>
            </a:xfrm>
            <a:solidFill>
              <a:schemeClr val="bg1"/>
            </a:solidFill>
          </p:grpSpPr>
          <p:sp>
            <p:nvSpPr>
              <p:cNvPr id="73" name="Freeform: Shape 8">
                <a:extLst>
                  <a:ext uri="{FF2B5EF4-FFF2-40B4-BE49-F238E27FC236}">
                    <a16:creationId xmlns:a16="http://schemas.microsoft.com/office/drawing/2014/main" id="{420938FF-9162-46E1-8B1F-A906CCE4F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9634" y="1356959"/>
                <a:ext cx="287091" cy="287091"/>
              </a:xfrm>
              <a:custGeom>
                <a:avLst/>
                <a:gdLst>
                  <a:gd name="T0" fmla="*/ 652 w 932"/>
                  <a:gd name="T1" fmla="*/ 901 h 932"/>
                  <a:gd name="T2" fmla="*/ 901 w 932"/>
                  <a:gd name="T3" fmla="*/ 808 h 932"/>
                  <a:gd name="T4" fmla="*/ 31 w 932"/>
                  <a:gd name="T5" fmla="*/ 808 h 932"/>
                  <a:gd name="T6" fmla="*/ 279 w 932"/>
                  <a:gd name="T7" fmla="*/ 901 h 932"/>
                  <a:gd name="T8" fmla="*/ 31 w 932"/>
                  <a:gd name="T9" fmla="*/ 808 h 932"/>
                  <a:gd name="T10" fmla="*/ 279 w 932"/>
                  <a:gd name="T11" fmla="*/ 31 h 932"/>
                  <a:gd name="T12" fmla="*/ 31 w 932"/>
                  <a:gd name="T13" fmla="*/ 124 h 932"/>
                  <a:gd name="T14" fmla="*/ 901 w 932"/>
                  <a:gd name="T15" fmla="*/ 124 h 932"/>
                  <a:gd name="T16" fmla="*/ 652 w 932"/>
                  <a:gd name="T17" fmla="*/ 31 h 932"/>
                  <a:gd name="T18" fmla="*/ 901 w 932"/>
                  <a:gd name="T19" fmla="*/ 124 h 932"/>
                  <a:gd name="T20" fmla="*/ 310 w 932"/>
                  <a:gd name="T21" fmla="*/ 31 h 932"/>
                  <a:gd name="T22" fmla="*/ 621 w 932"/>
                  <a:gd name="T23" fmla="*/ 124 h 932"/>
                  <a:gd name="T24" fmla="*/ 31 w 932"/>
                  <a:gd name="T25" fmla="*/ 777 h 932"/>
                  <a:gd name="T26" fmla="*/ 901 w 932"/>
                  <a:gd name="T27" fmla="*/ 155 h 932"/>
                  <a:gd name="T28" fmla="*/ 31 w 932"/>
                  <a:gd name="T29" fmla="*/ 777 h 932"/>
                  <a:gd name="T30" fmla="*/ 621 w 932"/>
                  <a:gd name="T31" fmla="*/ 901 h 932"/>
                  <a:gd name="T32" fmla="*/ 310 w 932"/>
                  <a:gd name="T33" fmla="*/ 808 h 932"/>
                  <a:gd name="T34" fmla="*/ 916 w 932"/>
                  <a:gd name="T35" fmla="*/ 0 h 932"/>
                  <a:gd name="T36" fmla="*/ 12 w 932"/>
                  <a:gd name="T37" fmla="*/ 0 h 932"/>
                  <a:gd name="T38" fmla="*/ 7 w 932"/>
                  <a:gd name="T39" fmla="*/ 2 h 932"/>
                  <a:gd name="T40" fmla="*/ 2 w 932"/>
                  <a:gd name="T41" fmla="*/ 7 h 932"/>
                  <a:gd name="T42" fmla="*/ 0 w 932"/>
                  <a:gd name="T43" fmla="*/ 12 h 932"/>
                  <a:gd name="T44" fmla="*/ 0 w 932"/>
                  <a:gd name="T45" fmla="*/ 139 h 932"/>
                  <a:gd name="T46" fmla="*/ 0 w 932"/>
                  <a:gd name="T47" fmla="*/ 917 h 932"/>
                  <a:gd name="T48" fmla="*/ 1 w 932"/>
                  <a:gd name="T49" fmla="*/ 922 h 932"/>
                  <a:gd name="T50" fmla="*/ 4 w 932"/>
                  <a:gd name="T51" fmla="*/ 928 h 932"/>
                  <a:gd name="T52" fmla="*/ 9 w 932"/>
                  <a:gd name="T53" fmla="*/ 931 h 932"/>
                  <a:gd name="T54" fmla="*/ 15 w 932"/>
                  <a:gd name="T55" fmla="*/ 932 h 932"/>
                  <a:gd name="T56" fmla="*/ 920 w 932"/>
                  <a:gd name="T57" fmla="*/ 932 h 932"/>
                  <a:gd name="T58" fmla="*/ 925 w 932"/>
                  <a:gd name="T59" fmla="*/ 929 h 932"/>
                  <a:gd name="T60" fmla="*/ 930 w 932"/>
                  <a:gd name="T61" fmla="*/ 926 h 932"/>
                  <a:gd name="T62" fmla="*/ 932 w 932"/>
                  <a:gd name="T63" fmla="*/ 920 h 932"/>
                  <a:gd name="T64" fmla="*/ 932 w 932"/>
                  <a:gd name="T65" fmla="*/ 792 h 932"/>
                  <a:gd name="T66" fmla="*/ 932 w 932"/>
                  <a:gd name="T67" fmla="*/ 16 h 932"/>
                  <a:gd name="T68" fmla="*/ 931 w 932"/>
                  <a:gd name="T69" fmla="*/ 9 h 932"/>
                  <a:gd name="T70" fmla="*/ 928 w 932"/>
                  <a:gd name="T71" fmla="*/ 5 h 932"/>
                  <a:gd name="T72" fmla="*/ 922 w 932"/>
                  <a:gd name="T73" fmla="*/ 1 h 932"/>
                  <a:gd name="T74" fmla="*/ 916 w 932"/>
                  <a:gd name="T75" fmla="*/ 0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32" h="932">
                    <a:moveTo>
                      <a:pt x="901" y="901"/>
                    </a:moveTo>
                    <a:lnTo>
                      <a:pt x="652" y="901"/>
                    </a:lnTo>
                    <a:lnTo>
                      <a:pt x="652" y="808"/>
                    </a:lnTo>
                    <a:lnTo>
                      <a:pt x="901" y="808"/>
                    </a:lnTo>
                    <a:lnTo>
                      <a:pt x="901" y="901"/>
                    </a:lnTo>
                    <a:close/>
                    <a:moveTo>
                      <a:pt x="31" y="808"/>
                    </a:moveTo>
                    <a:lnTo>
                      <a:pt x="279" y="808"/>
                    </a:lnTo>
                    <a:lnTo>
                      <a:pt x="279" y="901"/>
                    </a:lnTo>
                    <a:lnTo>
                      <a:pt x="31" y="901"/>
                    </a:lnTo>
                    <a:lnTo>
                      <a:pt x="31" y="808"/>
                    </a:lnTo>
                    <a:close/>
                    <a:moveTo>
                      <a:pt x="31" y="31"/>
                    </a:moveTo>
                    <a:lnTo>
                      <a:pt x="279" y="31"/>
                    </a:lnTo>
                    <a:lnTo>
                      <a:pt x="279" y="124"/>
                    </a:lnTo>
                    <a:lnTo>
                      <a:pt x="31" y="124"/>
                    </a:lnTo>
                    <a:lnTo>
                      <a:pt x="31" y="31"/>
                    </a:lnTo>
                    <a:close/>
                    <a:moveTo>
                      <a:pt x="901" y="124"/>
                    </a:moveTo>
                    <a:lnTo>
                      <a:pt x="652" y="124"/>
                    </a:lnTo>
                    <a:lnTo>
                      <a:pt x="652" y="31"/>
                    </a:lnTo>
                    <a:lnTo>
                      <a:pt x="901" y="31"/>
                    </a:lnTo>
                    <a:lnTo>
                      <a:pt x="901" y="124"/>
                    </a:lnTo>
                    <a:close/>
                    <a:moveTo>
                      <a:pt x="310" y="124"/>
                    </a:moveTo>
                    <a:lnTo>
                      <a:pt x="310" y="31"/>
                    </a:lnTo>
                    <a:lnTo>
                      <a:pt x="621" y="31"/>
                    </a:lnTo>
                    <a:lnTo>
                      <a:pt x="621" y="124"/>
                    </a:lnTo>
                    <a:lnTo>
                      <a:pt x="310" y="124"/>
                    </a:lnTo>
                    <a:close/>
                    <a:moveTo>
                      <a:pt x="31" y="777"/>
                    </a:moveTo>
                    <a:lnTo>
                      <a:pt x="31" y="155"/>
                    </a:lnTo>
                    <a:lnTo>
                      <a:pt x="901" y="155"/>
                    </a:lnTo>
                    <a:lnTo>
                      <a:pt x="901" y="777"/>
                    </a:lnTo>
                    <a:lnTo>
                      <a:pt x="31" y="777"/>
                    </a:lnTo>
                    <a:close/>
                    <a:moveTo>
                      <a:pt x="621" y="808"/>
                    </a:moveTo>
                    <a:lnTo>
                      <a:pt x="621" y="901"/>
                    </a:lnTo>
                    <a:lnTo>
                      <a:pt x="310" y="901"/>
                    </a:lnTo>
                    <a:lnTo>
                      <a:pt x="310" y="808"/>
                    </a:lnTo>
                    <a:lnTo>
                      <a:pt x="621" y="808"/>
                    </a:lnTo>
                    <a:close/>
                    <a:moveTo>
                      <a:pt x="916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39"/>
                    </a:lnTo>
                    <a:lnTo>
                      <a:pt x="0" y="792"/>
                    </a:lnTo>
                    <a:lnTo>
                      <a:pt x="0" y="917"/>
                    </a:lnTo>
                    <a:lnTo>
                      <a:pt x="0" y="920"/>
                    </a:lnTo>
                    <a:lnTo>
                      <a:pt x="1" y="922"/>
                    </a:lnTo>
                    <a:lnTo>
                      <a:pt x="2" y="926"/>
                    </a:lnTo>
                    <a:lnTo>
                      <a:pt x="4" y="928"/>
                    </a:lnTo>
                    <a:lnTo>
                      <a:pt x="7" y="929"/>
                    </a:lnTo>
                    <a:lnTo>
                      <a:pt x="9" y="931"/>
                    </a:lnTo>
                    <a:lnTo>
                      <a:pt x="12" y="932"/>
                    </a:lnTo>
                    <a:lnTo>
                      <a:pt x="15" y="932"/>
                    </a:lnTo>
                    <a:lnTo>
                      <a:pt x="916" y="932"/>
                    </a:lnTo>
                    <a:lnTo>
                      <a:pt x="920" y="932"/>
                    </a:lnTo>
                    <a:lnTo>
                      <a:pt x="922" y="931"/>
                    </a:lnTo>
                    <a:lnTo>
                      <a:pt x="925" y="929"/>
                    </a:lnTo>
                    <a:lnTo>
                      <a:pt x="928" y="928"/>
                    </a:lnTo>
                    <a:lnTo>
                      <a:pt x="930" y="926"/>
                    </a:lnTo>
                    <a:lnTo>
                      <a:pt x="931" y="922"/>
                    </a:lnTo>
                    <a:lnTo>
                      <a:pt x="932" y="920"/>
                    </a:lnTo>
                    <a:lnTo>
                      <a:pt x="932" y="917"/>
                    </a:lnTo>
                    <a:lnTo>
                      <a:pt x="932" y="792"/>
                    </a:lnTo>
                    <a:lnTo>
                      <a:pt x="932" y="139"/>
                    </a:lnTo>
                    <a:lnTo>
                      <a:pt x="932" y="16"/>
                    </a:lnTo>
                    <a:lnTo>
                      <a:pt x="932" y="12"/>
                    </a:lnTo>
                    <a:lnTo>
                      <a:pt x="931" y="9"/>
                    </a:lnTo>
                    <a:lnTo>
                      <a:pt x="930" y="7"/>
                    </a:lnTo>
                    <a:lnTo>
                      <a:pt x="928" y="5"/>
                    </a:lnTo>
                    <a:lnTo>
                      <a:pt x="925" y="2"/>
                    </a:lnTo>
                    <a:lnTo>
                      <a:pt x="922" y="1"/>
                    </a:lnTo>
                    <a:lnTo>
                      <a:pt x="920" y="0"/>
                    </a:lnTo>
                    <a:lnTo>
                      <a:pt x="916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Freeform: Shape 9">
                <a:extLst>
                  <a:ext uri="{FF2B5EF4-FFF2-40B4-BE49-F238E27FC236}">
                    <a16:creationId xmlns:a16="http://schemas.microsoft.com/office/drawing/2014/main" id="{66939718-6B79-4119-A4FF-42C962B4A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1099" y="1428424"/>
                <a:ext cx="144162" cy="144162"/>
              </a:xfrm>
              <a:custGeom>
                <a:avLst/>
                <a:gdLst>
                  <a:gd name="T0" fmla="*/ 192 w 466"/>
                  <a:gd name="T1" fmla="*/ 432 h 467"/>
                  <a:gd name="T2" fmla="*/ 137 w 466"/>
                  <a:gd name="T3" fmla="*/ 412 h 467"/>
                  <a:gd name="T4" fmla="*/ 90 w 466"/>
                  <a:gd name="T5" fmla="*/ 377 h 467"/>
                  <a:gd name="T6" fmla="*/ 55 w 466"/>
                  <a:gd name="T7" fmla="*/ 330 h 467"/>
                  <a:gd name="T8" fmla="*/ 35 w 466"/>
                  <a:gd name="T9" fmla="*/ 275 h 467"/>
                  <a:gd name="T10" fmla="*/ 31 w 466"/>
                  <a:gd name="T11" fmla="*/ 214 h 467"/>
                  <a:gd name="T12" fmla="*/ 47 w 466"/>
                  <a:gd name="T13" fmla="*/ 155 h 467"/>
                  <a:gd name="T14" fmla="*/ 77 w 466"/>
                  <a:gd name="T15" fmla="*/ 106 h 467"/>
                  <a:gd name="T16" fmla="*/ 120 w 466"/>
                  <a:gd name="T17" fmla="*/ 66 h 467"/>
                  <a:gd name="T18" fmla="*/ 172 w 466"/>
                  <a:gd name="T19" fmla="*/ 42 h 467"/>
                  <a:gd name="T20" fmla="*/ 232 w 466"/>
                  <a:gd name="T21" fmla="*/ 32 h 467"/>
                  <a:gd name="T22" fmla="*/ 292 w 466"/>
                  <a:gd name="T23" fmla="*/ 42 h 467"/>
                  <a:gd name="T24" fmla="*/ 346 w 466"/>
                  <a:gd name="T25" fmla="*/ 66 h 467"/>
                  <a:gd name="T26" fmla="*/ 389 w 466"/>
                  <a:gd name="T27" fmla="*/ 106 h 467"/>
                  <a:gd name="T28" fmla="*/ 419 w 466"/>
                  <a:gd name="T29" fmla="*/ 156 h 467"/>
                  <a:gd name="T30" fmla="*/ 433 w 466"/>
                  <a:gd name="T31" fmla="*/ 214 h 467"/>
                  <a:gd name="T32" fmla="*/ 430 w 466"/>
                  <a:gd name="T33" fmla="*/ 275 h 467"/>
                  <a:gd name="T34" fmla="*/ 410 w 466"/>
                  <a:gd name="T35" fmla="*/ 330 h 467"/>
                  <a:gd name="T36" fmla="*/ 376 w 466"/>
                  <a:gd name="T37" fmla="*/ 377 h 467"/>
                  <a:gd name="T38" fmla="*/ 329 w 466"/>
                  <a:gd name="T39" fmla="*/ 412 h 467"/>
                  <a:gd name="T40" fmla="*/ 273 w 466"/>
                  <a:gd name="T41" fmla="*/ 432 h 467"/>
                  <a:gd name="T42" fmla="*/ 232 w 466"/>
                  <a:gd name="T43" fmla="*/ 0 h 467"/>
                  <a:gd name="T44" fmla="*/ 197 w 466"/>
                  <a:gd name="T45" fmla="*/ 4 h 467"/>
                  <a:gd name="T46" fmla="*/ 163 w 466"/>
                  <a:gd name="T47" fmla="*/ 12 h 467"/>
                  <a:gd name="T48" fmla="*/ 121 w 466"/>
                  <a:gd name="T49" fmla="*/ 29 h 467"/>
                  <a:gd name="T50" fmla="*/ 68 w 466"/>
                  <a:gd name="T51" fmla="*/ 69 h 467"/>
                  <a:gd name="T52" fmla="*/ 28 w 466"/>
                  <a:gd name="T53" fmla="*/ 123 h 467"/>
                  <a:gd name="T54" fmla="*/ 10 w 466"/>
                  <a:gd name="T55" fmla="*/ 165 h 467"/>
                  <a:gd name="T56" fmla="*/ 2 w 466"/>
                  <a:gd name="T57" fmla="*/ 198 h 467"/>
                  <a:gd name="T58" fmla="*/ 0 w 466"/>
                  <a:gd name="T59" fmla="*/ 234 h 467"/>
                  <a:gd name="T60" fmla="*/ 2 w 466"/>
                  <a:gd name="T61" fmla="*/ 269 h 467"/>
                  <a:gd name="T62" fmla="*/ 10 w 466"/>
                  <a:gd name="T63" fmla="*/ 304 h 467"/>
                  <a:gd name="T64" fmla="*/ 28 w 466"/>
                  <a:gd name="T65" fmla="*/ 345 h 467"/>
                  <a:gd name="T66" fmla="*/ 68 w 466"/>
                  <a:gd name="T67" fmla="*/ 398 h 467"/>
                  <a:gd name="T68" fmla="*/ 121 w 466"/>
                  <a:gd name="T69" fmla="*/ 439 h 467"/>
                  <a:gd name="T70" fmla="*/ 163 w 466"/>
                  <a:gd name="T71" fmla="*/ 457 h 467"/>
                  <a:gd name="T72" fmla="*/ 197 w 466"/>
                  <a:gd name="T73" fmla="*/ 465 h 467"/>
                  <a:gd name="T74" fmla="*/ 232 w 466"/>
                  <a:gd name="T75" fmla="*/ 467 h 467"/>
                  <a:gd name="T76" fmla="*/ 268 w 466"/>
                  <a:gd name="T77" fmla="*/ 465 h 467"/>
                  <a:gd name="T78" fmla="*/ 302 w 466"/>
                  <a:gd name="T79" fmla="*/ 457 h 467"/>
                  <a:gd name="T80" fmla="*/ 343 w 466"/>
                  <a:gd name="T81" fmla="*/ 439 h 467"/>
                  <a:gd name="T82" fmla="*/ 398 w 466"/>
                  <a:gd name="T83" fmla="*/ 399 h 467"/>
                  <a:gd name="T84" fmla="*/ 438 w 466"/>
                  <a:gd name="T85" fmla="*/ 345 h 467"/>
                  <a:gd name="T86" fmla="*/ 456 w 466"/>
                  <a:gd name="T87" fmla="*/ 304 h 467"/>
                  <a:gd name="T88" fmla="*/ 463 w 466"/>
                  <a:gd name="T89" fmla="*/ 269 h 467"/>
                  <a:gd name="T90" fmla="*/ 466 w 466"/>
                  <a:gd name="T91" fmla="*/ 234 h 467"/>
                  <a:gd name="T92" fmla="*/ 463 w 466"/>
                  <a:gd name="T93" fmla="*/ 198 h 467"/>
                  <a:gd name="T94" fmla="*/ 456 w 466"/>
                  <a:gd name="T95" fmla="*/ 165 h 467"/>
                  <a:gd name="T96" fmla="*/ 438 w 466"/>
                  <a:gd name="T97" fmla="*/ 123 h 467"/>
                  <a:gd name="T98" fmla="*/ 398 w 466"/>
                  <a:gd name="T99" fmla="*/ 69 h 467"/>
                  <a:gd name="T100" fmla="*/ 343 w 466"/>
                  <a:gd name="T101" fmla="*/ 29 h 467"/>
                  <a:gd name="T102" fmla="*/ 302 w 466"/>
                  <a:gd name="T103" fmla="*/ 12 h 467"/>
                  <a:gd name="T104" fmla="*/ 268 w 466"/>
                  <a:gd name="T105" fmla="*/ 4 h 467"/>
                  <a:gd name="T106" fmla="*/ 232 w 466"/>
                  <a:gd name="T107" fmla="*/ 0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6" h="467">
                    <a:moveTo>
                      <a:pt x="232" y="436"/>
                    </a:moveTo>
                    <a:lnTo>
                      <a:pt x="212" y="435"/>
                    </a:lnTo>
                    <a:lnTo>
                      <a:pt x="192" y="432"/>
                    </a:lnTo>
                    <a:lnTo>
                      <a:pt x="172" y="427"/>
                    </a:lnTo>
                    <a:lnTo>
                      <a:pt x="155" y="420"/>
                    </a:lnTo>
                    <a:lnTo>
                      <a:pt x="137" y="412"/>
                    </a:lnTo>
                    <a:lnTo>
                      <a:pt x="120" y="402"/>
                    </a:lnTo>
                    <a:lnTo>
                      <a:pt x="105" y="390"/>
                    </a:lnTo>
                    <a:lnTo>
                      <a:pt x="90" y="377"/>
                    </a:lnTo>
                    <a:lnTo>
                      <a:pt x="77" y="363"/>
                    </a:lnTo>
                    <a:lnTo>
                      <a:pt x="66" y="347"/>
                    </a:lnTo>
                    <a:lnTo>
                      <a:pt x="55" y="330"/>
                    </a:lnTo>
                    <a:lnTo>
                      <a:pt x="47" y="313"/>
                    </a:lnTo>
                    <a:lnTo>
                      <a:pt x="40" y="294"/>
                    </a:lnTo>
                    <a:lnTo>
                      <a:pt x="35" y="275"/>
                    </a:lnTo>
                    <a:lnTo>
                      <a:pt x="31" y="255"/>
                    </a:lnTo>
                    <a:lnTo>
                      <a:pt x="30" y="234"/>
                    </a:lnTo>
                    <a:lnTo>
                      <a:pt x="31" y="214"/>
                    </a:lnTo>
                    <a:lnTo>
                      <a:pt x="35" y="194"/>
                    </a:lnTo>
                    <a:lnTo>
                      <a:pt x="40" y="174"/>
                    </a:lnTo>
                    <a:lnTo>
                      <a:pt x="47" y="155"/>
                    </a:lnTo>
                    <a:lnTo>
                      <a:pt x="55" y="138"/>
                    </a:lnTo>
                    <a:lnTo>
                      <a:pt x="66" y="122"/>
                    </a:lnTo>
                    <a:lnTo>
                      <a:pt x="77" y="106"/>
                    </a:lnTo>
                    <a:lnTo>
                      <a:pt x="90" y="92"/>
                    </a:lnTo>
                    <a:lnTo>
                      <a:pt x="105" y="78"/>
                    </a:lnTo>
                    <a:lnTo>
                      <a:pt x="120" y="66"/>
                    </a:lnTo>
                    <a:lnTo>
                      <a:pt x="137" y="56"/>
                    </a:lnTo>
                    <a:lnTo>
                      <a:pt x="155" y="48"/>
                    </a:lnTo>
                    <a:lnTo>
                      <a:pt x="172" y="42"/>
                    </a:lnTo>
                    <a:lnTo>
                      <a:pt x="192" y="36"/>
                    </a:lnTo>
                    <a:lnTo>
                      <a:pt x="212" y="33"/>
                    </a:lnTo>
                    <a:lnTo>
                      <a:pt x="232" y="32"/>
                    </a:lnTo>
                    <a:lnTo>
                      <a:pt x="253" y="33"/>
                    </a:lnTo>
                    <a:lnTo>
                      <a:pt x="273" y="36"/>
                    </a:lnTo>
                    <a:lnTo>
                      <a:pt x="292" y="42"/>
                    </a:lnTo>
                    <a:lnTo>
                      <a:pt x="311" y="48"/>
                    </a:lnTo>
                    <a:lnTo>
                      <a:pt x="329" y="56"/>
                    </a:lnTo>
                    <a:lnTo>
                      <a:pt x="346" y="66"/>
                    </a:lnTo>
                    <a:lnTo>
                      <a:pt x="361" y="78"/>
                    </a:lnTo>
                    <a:lnTo>
                      <a:pt x="376" y="92"/>
                    </a:lnTo>
                    <a:lnTo>
                      <a:pt x="389" y="106"/>
                    </a:lnTo>
                    <a:lnTo>
                      <a:pt x="400" y="122"/>
                    </a:lnTo>
                    <a:lnTo>
                      <a:pt x="410" y="138"/>
                    </a:lnTo>
                    <a:lnTo>
                      <a:pt x="419" y="156"/>
                    </a:lnTo>
                    <a:lnTo>
                      <a:pt x="426" y="174"/>
                    </a:lnTo>
                    <a:lnTo>
                      <a:pt x="430" y="194"/>
                    </a:lnTo>
                    <a:lnTo>
                      <a:pt x="433" y="214"/>
                    </a:lnTo>
                    <a:lnTo>
                      <a:pt x="435" y="234"/>
                    </a:lnTo>
                    <a:lnTo>
                      <a:pt x="433" y="255"/>
                    </a:lnTo>
                    <a:lnTo>
                      <a:pt x="430" y="275"/>
                    </a:lnTo>
                    <a:lnTo>
                      <a:pt x="426" y="294"/>
                    </a:lnTo>
                    <a:lnTo>
                      <a:pt x="419" y="313"/>
                    </a:lnTo>
                    <a:lnTo>
                      <a:pt x="410" y="330"/>
                    </a:lnTo>
                    <a:lnTo>
                      <a:pt x="400" y="347"/>
                    </a:lnTo>
                    <a:lnTo>
                      <a:pt x="389" y="363"/>
                    </a:lnTo>
                    <a:lnTo>
                      <a:pt x="376" y="377"/>
                    </a:lnTo>
                    <a:lnTo>
                      <a:pt x="361" y="389"/>
                    </a:lnTo>
                    <a:lnTo>
                      <a:pt x="346" y="402"/>
                    </a:lnTo>
                    <a:lnTo>
                      <a:pt x="329" y="412"/>
                    </a:lnTo>
                    <a:lnTo>
                      <a:pt x="311" y="420"/>
                    </a:lnTo>
                    <a:lnTo>
                      <a:pt x="292" y="427"/>
                    </a:lnTo>
                    <a:lnTo>
                      <a:pt x="273" y="432"/>
                    </a:lnTo>
                    <a:lnTo>
                      <a:pt x="253" y="435"/>
                    </a:lnTo>
                    <a:lnTo>
                      <a:pt x="232" y="436"/>
                    </a:lnTo>
                    <a:close/>
                    <a:moveTo>
                      <a:pt x="232" y="0"/>
                    </a:moveTo>
                    <a:lnTo>
                      <a:pt x="221" y="2"/>
                    </a:lnTo>
                    <a:lnTo>
                      <a:pt x="209" y="2"/>
                    </a:lnTo>
                    <a:lnTo>
                      <a:pt x="197" y="4"/>
                    </a:lnTo>
                    <a:lnTo>
                      <a:pt x="186" y="6"/>
                    </a:lnTo>
                    <a:lnTo>
                      <a:pt x="175" y="8"/>
                    </a:lnTo>
                    <a:lnTo>
                      <a:pt x="163" y="12"/>
                    </a:lnTo>
                    <a:lnTo>
                      <a:pt x="152" y="15"/>
                    </a:lnTo>
                    <a:lnTo>
                      <a:pt x="142" y="19"/>
                    </a:lnTo>
                    <a:lnTo>
                      <a:pt x="121" y="29"/>
                    </a:lnTo>
                    <a:lnTo>
                      <a:pt x="102" y="40"/>
                    </a:lnTo>
                    <a:lnTo>
                      <a:pt x="85" y="54"/>
                    </a:lnTo>
                    <a:lnTo>
                      <a:pt x="68" y="69"/>
                    </a:lnTo>
                    <a:lnTo>
                      <a:pt x="52" y="86"/>
                    </a:lnTo>
                    <a:lnTo>
                      <a:pt x="39" y="104"/>
                    </a:lnTo>
                    <a:lnTo>
                      <a:pt x="28" y="123"/>
                    </a:lnTo>
                    <a:lnTo>
                      <a:pt x="18" y="144"/>
                    </a:lnTo>
                    <a:lnTo>
                      <a:pt x="14" y="154"/>
                    </a:lnTo>
                    <a:lnTo>
                      <a:pt x="10" y="165"/>
                    </a:lnTo>
                    <a:lnTo>
                      <a:pt x="7" y="176"/>
                    </a:lnTo>
                    <a:lnTo>
                      <a:pt x="5" y="187"/>
                    </a:lnTo>
                    <a:lnTo>
                      <a:pt x="2" y="198"/>
                    </a:lnTo>
                    <a:lnTo>
                      <a:pt x="1" y="210"/>
                    </a:lnTo>
                    <a:lnTo>
                      <a:pt x="0" y="222"/>
                    </a:lnTo>
                    <a:lnTo>
                      <a:pt x="0" y="234"/>
                    </a:lnTo>
                    <a:lnTo>
                      <a:pt x="0" y="246"/>
                    </a:lnTo>
                    <a:lnTo>
                      <a:pt x="1" y="258"/>
                    </a:lnTo>
                    <a:lnTo>
                      <a:pt x="2" y="269"/>
                    </a:lnTo>
                    <a:lnTo>
                      <a:pt x="5" y="280"/>
                    </a:lnTo>
                    <a:lnTo>
                      <a:pt x="7" y="293"/>
                    </a:lnTo>
                    <a:lnTo>
                      <a:pt x="10" y="304"/>
                    </a:lnTo>
                    <a:lnTo>
                      <a:pt x="14" y="314"/>
                    </a:lnTo>
                    <a:lnTo>
                      <a:pt x="18" y="325"/>
                    </a:lnTo>
                    <a:lnTo>
                      <a:pt x="28" y="345"/>
                    </a:lnTo>
                    <a:lnTo>
                      <a:pt x="39" y="364"/>
                    </a:lnTo>
                    <a:lnTo>
                      <a:pt x="52" y="383"/>
                    </a:lnTo>
                    <a:lnTo>
                      <a:pt x="68" y="398"/>
                    </a:lnTo>
                    <a:lnTo>
                      <a:pt x="85" y="414"/>
                    </a:lnTo>
                    <a:lnTo>
                      <a:pt x="102" y="427"/>
                    </a:lnTo>
                    <a:lnTo>
                      <a:pt x="121" y="439"/>
                    </a:lnTo>
                    <a:lnTo>
                      <a:pt x="142" y="449"/>
                    </a:lnTo>
                    <a:lnTo>
                      <a:pt x="152" y="453"/>
                    </a:lnTo>
                    <a:lnTo>
                      <a:pt x="163" y="457"/>
                    </a:lnTo>
                    <a:lnTo>
                      <a:pt x="175" y="459"/>
                    </a:lnTo>
                    <a:lnTo>
                      <a:pt x="186" y="463"/>
                    </a:lnTo>
                    <a:lnTo>
                      <a:pt x="197" y="465"/>
                    </a:lnTo>
                    <a:lnTo>
                      <a:pt x="209" y="466"/>
                    </a:lnTo>
                    <a:lnTo>
                      <a:pt x="221" y="467"/>
                    </a:lnTo>
                    <a:lnTo>
                      <a:pt x="232" y="467"/>
                    </a:lnTo>
                    <a:lnTo>
                      <a:pt x="245" y="467"/>
                    </a:lnTo>
                    <a:lnTo>
                      <a:pt x="257" y="466"/>
                    </a:lnTo>
                    <a:lnTo>
                      <a:pt x="268" y="465"/>
                    </a:lnTo>
                    <a:lnTo>
                      <a:pt x="280" y="463"/>
                    </a:lnTo>
                    <a:lnTo>
                      <a:pt x="291" y="459"/>
                    </a:lnTo>
                    <a:lnTo>
                      <a:pt x="302" y="457"/>
                    </a:lnTo>
                    <a:lnTo>
                      <a:pt x="312" y="453"/>
                    </a:lnTo>
                    <a:lnTo>
                      <a:pt x="323" y="449"/>
                    </a:lnTo>
                    <a:lnTo>
                      <a:pt x="343" y="439"/>
                    </a:lnTo>
                    <a:lnTo>
                      <a:pt x="363" y="427"/>
                    </a:lnTo>
                    <a:lnTo>
                      <a:pt x="381" y="414"/>
                    </a:lnTo>
                    <a:lnTo>
                      <a:pt x="398" y="399"/>
                    </a:lnTo>
                    <a:lnTo>
                      <a:pt x="412" y="383"/>
                    </a:lnTo>
                    <a:lnTo>
                      <a:pt x="426" y="364"/>
                    </a:lnTo>
                    <a:lnTo>
                      <a:pt x="438" y="345"/>
                    </a:lnTo>
                    <a:lnTo>
                      <a:pt x="448" y="325"/>
                    </a:lnTo>
                    <a:lnTo>
                      <a:pt x="451" y="314"/>
                    </a:lnTo>
                    <a:lnTo>
                      <a:pt x="456" y="304"/>
                    </a:lnTo>
                    <a:lnTo>
                      <a:pt x="459" y="293"/>
                    </a:lnTo>
                    <a:lnTo>
                      <a:pt x="461" y="280"/>
                    </a:lnTo>
                    <a:lnTo>
                      <a:pt x="463" y="269"/>
                    </a:lnTo>
                    <a:lnTo>
                      <a:pt x="465" y="258"/>
                    </a:lnTo>
                    <a:lnTo>
                      <a:pt x="466" y="246"/>
                    </a:lnTo>
                    <a:lnTo>
                      <a:pt x="466" y="234"/>
                    </a:lnTo>
                    <a:lnTo>
                      <a:pt x="466" y="222"/>
                    </a:lnTo>
                    <a:lnTo>
                      <a:pt x="465" y="210"/>
                    </a:lnTo>
                    <a:lnTo>
                      <a:pt x="463" y="198"/>
                    </a:lnTo>
                    <a:lnTo>
                      <a:pt x="461" y="187"/>
                    </a:lnTo>
                    <a:lnTo>
                      <a:pt x="459" y="176"/>
                    </a:lnTo>
                    <a:lnTo>
                      <a:pt x="456" y="165"/>
                    </a:lnTo>
                    <a:lnTo>
                      <a:pt x="451" y="154"/>
                    </a:lnTo>
                    <a:lnTo>
                      <a:pt x="448" y="144"/>
                    </a:lnTo>
                    <a:lnTo>
                      <a:pt x="438" y="123"/>
                    </a:lnTo>
                    <a:lnTo>
                      <a:pt x="426" y="104"/>
                    </a:lnTo>
                    <a:lnTo>
                      <a:pt x="412" y="86"/>
                    </a:lnTo>
                    <a:lnTo>
                      <a:pt x="398" y="69"/>
                    </a:lnTo>
                    <a:lnTo>
                      <a:pt x="381" y="54"/>
                    </a:lnTo>
                    <a:lnTo>
                      <a:pt x="363" y="40"/>
                    </a:lnTo>
                    <a:lnTo>
                      <a:pt x="343" y="29"/>
                    </a:lnTo>
                    <a:lnTo>
                      <a:pt x="323" y="19"/>
                    </a:lnTo>
                    <a:lnTo>
                      <a:pt x="312" y="15"/>
                    </a:lnTo>
                    <a:lnTo>
                      <a:pt x="302" y="12"/>
                    </a:lnTo>
                    <a:lnTo>
                      <a:pt x="291" y="8"/>
                    </a:lnTo>
                    <a:lnTo>
                      <a:pt x="280" y="6"/>
                    </a:lnTo>
                    <a:lnTo>
                      <a:pt x="268" y="4"/>
                    </a:lnTo>
                    <a:lnTo>
                      <a:pt x="257" y="2"/>
                    </a:lnTo>
                    <a:lnTo>
                      <a:pt x="245" y="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Freeform: Shape 10">
                <a:extLst>
                  <a:ext uri="{FF2B5EF4-FFF2-40B4-BE49-F238E27FC236}">
                    <a16:creationId xmlns:a16="http://schemas.microsoft.com/office/drawing/2014/main" id="{4D0F0596-9F20-41A6-8764-A0FC37E67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34081" y="1471549"/>
                <a:ext cx="54215" cy="57911"/>
              </a:xfrm>
              <a:custGeom>
                <a:avLst/>
                <a:gdLst>
                  <a:gd name="T0" fmla="*/ 31 w 176"/>
                  <a:gd name="T1" fmla="*/ 146 h 188"/>
                  <a:gd name="T2" fmla="*/ 31 w 176"/>
                  <a:gd name="T3" fmla="*/ 42 h 188"/>
                  <a:gd name="T4" fmla="*/ 128 w 176"/>
                  <a:gd name="T5" fmla="*/ 94 h 188"/>
                  <a:gd name="T6" fmla="*/ 31 w 176"/>
                  <a:gd name="T7" fmla="*/ 146 h 188"/>
                  <a:gd name="T8" fmla="*/ 168 w 176"/>
                  <a:gd name="T9" fmla="*/ 80 h 188"/>
                  <a:gd name="T10" fmla="*/ 23 w 176"/>
                  <a:gd name="T11" fmla="*/ 2 h 188"/>
                  <a:gd name="T12" fmla="*/ 20 w 176"/>
                  <a:gd name="T13" fmla="*/ 0 h 188"/>
                  <a:gd name="T14" fmla="*/ 16 w 176"/>
                  <a:gd name="T15" fmla="*/ 0 h 188"/>
                  <a:gd name="T16" fmla="*/ 12 w 176"/>
                  <a:gd name="T17" fmla="*/ 0 h 188"/>
                  <a:gd name="T18" fmla="*/ 8 w 176"/>
                  <a:gd name="T19" fmla="*/ 3 h 188"/>
                  <a:gd name="T20" fmla="*/ 5 w 176"/>
                  <a:gd name="T21" fmla="*/ 5 h 188"/>
                  <a:gd name="T22" fmla="*/ 2 w 176"/>
                  <a:gd name="T23" fmla="*/ 8 h 188"/>
                  <a:gd name="T24" fmla="*/ 1 w 176"/>
                  <a:gd name="T25" fmla="*/ 12 h 188"/>
                  <a:gd name="T26" fmla="*/ 0 w 176"/>
                  <a:gd name="T27" fmla="*/ 16 h 188"/>
                  <a:gd name="T28" fmla="*/ 0 w 176"/>
                  <a:gd name="T29" fmla="*/ 173 h 188"/>
                  <a:gd name="T30" fmla="*/ 1 w 176"/>
                  <a:gd name="T31" fmla="*/ 176 h 188"/>
                  <a:gd name="T32" fmla="*/ 2 w 176"/>
                  <a:gd name="T33" fmla="*/ 180 h 188"/>
                  <a:gd name="T34" fmla="*/ 5 w 176"/>
                  <a:gd name="T35" fmla="*/ 183 h 188"/>
                  <a:gd name="T36" fmla="*/ 8 w 176"/>
                  <a:gd name="T37" fmla="*/ 186 h 188"/>
                  <a:gd name="T38" fmla="*/ 12 w 176"/>
                  <a:gd name="T39" fmla="*/ 187 h 188"/>
                  <a:gd name="T40" fmla="*/ 16 w 176"/>
                  <a:gd name="T41" fmla="*/ 188 h 188"/>
                  <a:gd name="T42" fmla="*/ 20 w 176"/>
                  <a:gd name="T43" fmla="*/ 187 h 188"/>
                  <a:gd name="T44" fmla="*/ 23 w 176"/>
                  <a:gd name="T45" fmla="*/ 186 h 188"/>
                  <a:gd name="T46" fmla="*/ 168 w 176"/>
                  <a:gd name="T47" fmla="*/ 107 h 188"/>
                  <a:gd name="T48" fmla="*/ 171 w 176"/>
                  <a:gd name="T49" fmla="*/ 105 h 188"/>
                  <a:gd name="T50" fmla="*/ 173 w 176"/>
                  <a:gd name="T51" fmla="*/ 102 h 188"/>
                  <a:gd name="T52" fmla="*/ 176 w 176"/>
                  <a:gd name="T53" fmla="*/ 98 h 188"/>
                  <a:gd name="T54" fmla="*/ 176 w 176"/>
                  <a:gd name="T55" fmla="*/ 94 h 188"/>
                  <a:gd name="T56" fmla="*/ 176 w 176"/>
                  <a:gd name="T57" fmla="*/ 89 h 188"/>
                  <a:gd name="T58" fmla="*/ 173 w 176"/>
                  <a:gd name="T59" fmla="*/ 86 h 188"/>
                  <a:gd name="T60" fmla="*/ 171 w 176"/>
                  <a:gd name="T61" fmla="*/ 83 h 188"/>
                  <a:gd name="T62" fmla="*/ 168 w 176"/>
                  <a:gd name="T63" fmla="*/ 8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6" h="188">
                    <a:moveTo>
                      <a:pt x="31" y="146"/>
                    </a:moveTo>
                    <a:lnTo>
                      <a:pt x="31" y="42"/>
                    </a:lnTo>
                    <a:lnTo>
                      <a:pt x="128" y="94"/>
                    </a:lnTo>
                    <a:lnTo>
                      <a:pt x="31" y="146"/>
                    </a:lnTo>
                    <a:close/>
                    <a:moveTo>
                      <a:pt x="168" y="80"/>
                    </a:moveTo>
                    <a:lnTo>
                      <a:pt x="23" y="2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2" y="8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0" y="173"/>
                    </a:lnTo>
                    <a:lnTo>
                      <a:pt x="1" y="176"/>
                    </a:lnTo>
                    <a:lnTo>
                      <a:pt x="2" y="180"/>
                    </a:lnTo>
                    <a:lnTo>
                      <a:pt x="5" y="183"/>
                    </a:lnTo>
                    <a:lnTo>
                      <a:pt x="8" y="186"/>
                    </a:lnTo>
                    <a:lnTo>
                      <a:pt x="12" y="187"/>
                    </a:lnTo>
                    <a:lnTo>
                      <a:pt x="16" y="188"/>
                    </a:lnTo>
                    <a:lnTo>
                      <a:pt x="20" y="187"/>
                    </a:lnTo>
                    <a:lnTo>
                      <a:pt x="23" y="186"/>
                    </a:lnTo>
                    <a:lnTo>
                      <a:pt x="168" y="107"/>
                    </a:lnTo>
                    <a:lnTo>
                      <a:pt x="171" y="105"/>
                    </a:lnTo>
                    <a:lnTo>
                      <a:pt x="173" y="102"/>
                    </a:lnTo>
                    <a:lnTo>
                      <a:pt x="176" y="98"/>
                    </a:lnTo>
                    <a:lnTo>
                      <a:pt x="176" y="94"/>
                    </a:lnTo>
                    <a:lnTo>
                      <a:pt x="176" y="89"/>
                    </a:lnTo>
                    <a:lnTo>
                      <a:pt x="173" y="86"/>
                    </a:lnTo>
                    <a:lnTo>
                      <a:pt x="171" y="83"/>
                    </a:lnTo>
                    <a:lnTo>
                      <a:pt x="168" y="8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6" name="Freeform: Shape 12">
              <a:extLst>
                <a:ext uri="{FF2B5EF4-FFF2-40B4-BE49-F238E27FC236}">
                  <a16:creationId xmlns:a16="http://schemas.microsoft.com/office/drawing/2014/main" id="{AFB274F3-40F9-4DC6-849E-AC1F354A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848" y="2159319"/>
              <a:ext cx="5527456" cy="3721809"/>
            </a:xfrm>
            <a:custGeom>
              <a:avLst/>
              <a:gdLst>
                <a:gd name="T0" fmla="*/ 1203 w 1203"/>
                <a:gd name="T1" fmla="*/ 773 h 810"/>
                <a:gd name="T2" fmla="*/ 1176 w 1203"/>
                <a:gd name="T3" fmla="*/ 810 h 810"/>
                <a:gd name="T4" fmla="*/ 28 w 1203"/>
                <a:gd name="T5" fmla="*/ 810 h 810"/>
                <a:gd name="T6" fmla="*/ 0 w 1203"/>
                <a:gd name="T7" fmla="*/ 773 h 810"/>
                <a:gd name="T8" fmla="*/ 0 w 1203"/>
                <a:gd name="T9" fmla="*/ 37 h 810"/>
                <a:gd name="T10" fmla="*/ 28 w 1203"/>
                <a:gd name="T11" fmla="*/ 0 h 810"/>
                <a:gd name="T12" fmla="*/ 1176 w 1203"/>
                <a:gd name="T13" fmla="*/ 0 h 810"/>
                <a:gd name="T14" fmla="*/ 1203 w 1203"/>
                <a:gd name="T15" fmla="*/ 37 h 810"/>
                <a:gd name="T16" fmla="*/ 1203 w 1203"/>
                <a:gd name="T17" fmla="*/ 773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3" h="810">
                  <a:moveTo>
                    <a:pt x="1203" y="773"/>
                  </a:moveTo>
                  <a:cubicBezTo>
                    <a:pt x="1203" y="794"/>
                    <a:pt x="1191" y="810"/>
                    <a:pt x="1176" y="810"/>
                  </a:cubicBezTo>
                  <a:cubicBezTo>
                    <a:pt x="28" y="810"/>
                    <a:pt x="28" y="810"/>
                    <a:pt x="28" y="810"/>
                  </a:cubicBezTo>
                  <a:cubicBezTo>
                    <a:pt x="12" y="810"/>
                    <a:pt x="0" y="794"/>
                    <a:pt x="0" y="77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2" y="0"/>
                    <a:pt x="28" y="0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91" y="0"/>
                    <a:pt x="1203" y="16"/>
                    <a:pt x="1203" y="37"/>
                  </a:cubicBezTo>
                  <a:lnTo>
                    <a:pt x="1203" y="773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Rectangle 13">
              <a:extLst>
                <a:ext uri="{FF2B5EF4-FFF2-40B4-BE49-F238E27FC236}">
                  <a16:creationId xmlns:a16="http://schemas.microsoft.com/office/drawing/2014/main" id="{843A91E9-DF32-4653-8BE1-95EABD888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858" y="2360439"/>
              <a:ext cx="5103117" cy="3149394"/>
            </a:xfrm>
            <a:prstGeom prst="rect">
              <a:avLst/>
            </a:prstGeom>
            <a:solidFill>
              <a:srgbClr val="FEFDF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Rectangle: Rounded Corners 17">
              <a:extLst>
                <a:ext uri="{FF2B5EF4-FFF2-40B4-BE49-F238E27FC236}">
                  <a16:creationId xmlns:a16="http://schemas.microsoft.com/office/drawing/2014/main" id="{8B4084FB-415F-4B2D-9101-E9533D7465E7}"/>
                </a:ext>
              </a:extLst>
            </p:cNvPr>
            <p:cNvSpPr/>
            <p:nvPr/>
          </p:nvSpPr>
          <p:spPr>
            <a:xfrm>
              <a:off x="5686200" y="5708698"/>
              <a:ext cx="806340" cy="15032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Rectangle 3">
              <a:extLst>
                <a:ext uri="{FF2B5EF4-FFF2-40B4-BE49-F238E27FC236}">
                  <a16:creationId xmlns:a16="http://schemas.microsoft.com/office/drawing/2014/main" id="{F9B1F30B-1180-47A4-82FD-A0D7DA04A7F4}"/>
                </a:ext>
              </a:extLst>
            </p:cNvPr>
            <p:cNvSpPr/>
            <p:nvPr/>
          </p:nvSpPr>
          <p:spPr>
            <a:xfrm>
              <a:off x="3569858" y="2360439"/>
              <a:ext cx="5103117" cy="3149394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TextBox 20">
              <a:extLst>
                <a:ext uri="{FF2B5EF4-FFF2-40B4-BE49-F238E27FC236}">
                  <a16:creationId xmlns:a16="http://schemas.microsoft.com/office/drawing/2014/main" id="{A9AC652E-EA7C-466E-81C1-EBC373E084C9}"/>
                </a:ext>
              </a:extLst>
            </p:cNvPr>
            <p:cNvSpPr txBox="1"/>
            <p:nvPr/>
          </p:nvSpPr>
          <p:spPr>
            <a:xfrm>
              <a:off x="4249844" y="1113559"/>
              <a:ext cx="3692326" cy="45318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tIns="72000" bIns="72000">
              <a:normAutofit fontScale="77500" lnSpcReduction="200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难度三</a:t>
              </a:r>
            </a:p>
          </p:txBody>
        </p:sp>
      </p:grpSp>
      <p:sp>
        <p:nvSpPr>
          <p:cNvPr id="76" name="Title 1">
            <a:extLst>
              <a:ext uri="{FF2B5EF4-FFF2-40B4-BE49-F238E27FC236}">
                <a16:creationId xmlns:a16="http://schemas.microsoft.com/office/drawing/2014/main" id="{4EFA37F8-35C6-41B2-BC45-C73823043F13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游玩展示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410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889235 L 0 0 E" pathEditMode="relative" ptsTypes="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  <p:from x="5141" y="787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889235 L 0 0 E" pathEditMode="relative" ptsTypes="">
                                      <p:cBhvr>
                                        <p:cTn id="1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50"/>
                                        </p:tgtEl>
                                      </p:cBhvr>
                                      <p:by x="150000" y="150000"/>
                                      <p:from x="5141" y="787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889235 L 0 0 E" pathEditMode="relative" ptsTypes="">
                                      <p:cBhvr>
                                        <p:cTn id="2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  <p:from x="5141" y="787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团队分工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1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4855532" y="2006705"/>
            <a:ext cx="1068683" cy="1010878"/>
            <a:chOff x="4855532" y="2006705"/>
            <a:chExt cx="1068683" cy="1010878"/>
          </a:xfrm>
        </p:grpSpPr>
        <p:sp>
          <p:nvSpPr>
            <p:cNvPr id="29" name="Speech Bubble: Oval 1"/>
            <p:cNvSpPr/>
            <p:nvPr/>
          </p:nvSpPr>
          <p:spPr>
            <a:xfrm>
              <a:off x="4855532" y="2006705"/>
              <a:ext cx="1068683" cy="1010878"/>
            </a:xfrm>
            <a:prstGeom prst="wedgeEllipseCallout">
              <a:avLst>
                <a:gd name="adj1" fmla="val -29"/>
                <a:gd name="adj2" fmla="val 6581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Freeform: Shape 32"/>
            <p:cNvSpPr>
              <a:spLocks/>
            </p:cNvSpPr>
            <p:nvPr/>
          </p:nvSpPr>
          <p:spPr bwMode="auto">
            <a:xfrm>
              <a:off x="5172310" y="2290114"/>
              <a:ext cx="430250" cy="42945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178E80-F807-4B3D-A8F6-F93F86D1133B}"/>
              </a:ext>
            </a:extLst>
          </p:cNvPr>
          <p:cNvGrpSpPr/>
          <p:nvPr/>
        </p:nvGrpSpPr>
        <p:grpSpPr>
          <a:xfrm>
            <a:off x="3234316" y="1189049"/>
            <a:ext cx="2153119" cy="2752470"/>
            <a:chOff x="3234316" y="1189049"/>
            <a:chExt cx="2153119" cy="2752470"/>
          </a:xfrm>
        </p:grpSpPr>
        <p:grpSp>
          <p:nvGrpSpPr>
            <p:cNvPr id="7" name="Group 21"/>
            <p:cNvGrpSpPr/>
            <p:nvPr/>
          </p:nvGrpSpPr>
          <p:grpSpPr>
            <a:xfrm>
              <a:off x="3234316" y="1189049"/>
              <a:ext cx="2153119" cy="2752470"/>
              <a:chOff x="4312419" y="1585399"/>
              <a:chExt cx="2870825" cy="3669960"/>
            </a:xfrm>
          </p:grpSpPr>
          <p:sp>
            <p:nvSpPr>
              <p:cNvPr id="23" name="Speech Bubble: Oval 15"/>
              <p:cNvSpPr/>
              <p:nvPr/>
            </p:nvSpPr>
            <p:spPr>
              <a:xfrm flipV="1">
                <a:off x="4312419" y="2834556"/>
                <a:ext cx="1424911" cy="1347837"/>
              </a:xfrm>
              <a:prstGeom prst="wedgeEllipseCallout">
                <a:avLst>
                  <a:gd name="adj1" fmla="val -29"/>
                  <a:gd name="adj2" fmla="val 65817"/>
                </a:avLst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cxnSp>
            <p:nvCxnSpPr>
              <p:cNvPr id="24" name="Straight Connector 16"/>
              <p:cNvCxnSpPr/>
              <p:nvPr/>
            </p:nvCxnSpPr>
            <p:spPr>
              <a:xfrm flipV="1">
                <a:off x="5024875" y="1585399"/>
                <a:ext cx="0" cy="909403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  <a:prstDash val="sysDash"/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16">
                <a:extLst>
                  <a:ext uri="{FF2B5EF4-FFF2-40B4-BE49-F238E27FC236}">
                    <a16:creationId xmlns:a16="http://schemas.microsoft.com/office/drawing/2014/main" id="{EB255CAA-AC3F-46BF-B2A9-BFCD87B740CA}"/>
                  </a:ext>
                </a:extLst>
              </p:cNvPr>
              <p:cNvCxnSpPr/>
              <p:nvPr/>
            </p:nvCxnSpPr>
            <p:spPr>
              <a:xfrm flipV="1">
                <a:off x="7183244" y="4345956"/>
                <a:ext cx="0" cy="909403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  <a:prstDash val="sysDash"/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Freeform: Shape 33"/>
            <p:cNvSpPr>
              <a:spLocks/>
            </p:cNvSpPr>
            <p:nvPr/>
          </p:nvSpPr>
          <p:spPr bwMode="auto">
            <a:xfrm>
              <a:off x="3514622" y="2394388"/>
              <a:ext cx="539450" cy="443381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995841" y="1217548"/>
            <a:ext cx="1947745" cy="1068683"/>
            <a:chOff x="3995841" y="1217548"/>
            <a:chExt cx="1947745" cy="1068683"/>
          </a:xfrm>
        </p:grpSpPr>
        <p:grpSp>
          <p:nvGrpSpPr>
            <p:cNvPr id="6" name="Group 18"/>
            <p:cNvGrpSpPr/>
            <p:nvPr/>
          </p:nvGrpSpPr>
          <p:grpSpPr>
            <a:xfrm>
              <a:off x="3995841" y="1217548"/>
              <a:ext cx="1947745" cy="1068683"/>
              <a:chOff x="5327788" y="1623397"/>
              <a:chExt cx="2596993" cy="1424911"/>
            </a:xfrm>
          </p:grpSpPr>
          <p:sp>
            <p:nvSpPr>
              <p:cNvPr id="25" name="Speech Bubble: Oval 12"/>
              <p:cNvSpPr/>
              <p:nvPr/>
            </p:nvSpPr>
            <p:spPr>
              <a:xfrm rot="16200000" flipH="1">
                <a:off x="5289251" y="1661934"/>
                <a:ext cx="1424911" cy="1347837"/>
              </a:xfrm>
              <a:prstGeom prst="wedgeEllipseCallout">
                <a:avLst>
                  <a:gd name="adj1" fmla="val -29"/>
                  <a:gd name="adj2" fmla="val 65817"/>
                </a:avLst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cxnSp>
            <p:nvCxnSpPr>
              <p:cNvPr id="26" name="Straight Connector 13"/>
              <p:cNvCxnSpPr/>
              <p:nvPr/>
            </p:nvCxnSpPr>
            <p:spPr>
              <a:xfrm rot="16200000" flipH="1">
                <a:off x="7470080" y="1881151"/>
                <a:ext cx="0" cy="909403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  <a:prstDash val="sysDash"/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Freeform: Shape 34"/>
            <p:cNvSpPr>
              <a:spLocks/>
            </p:cNvSpPr>
            <p:nvPr/>
          </p:nvSpPr>
          <p:spPr bwMode="auto">
            <a:xfrm>
              <a:off x="4270194" y="1505591"/>
              <a:ext cx="462171" cy="445364"/>
            </a:xfrm>
            <a:custGeom>
              <a:avLst/>
              <a:gdLst>
                <a:gd name="T0" fmla="*/ 0 w 208"/>
                <a:gd name="T1" fmla="*/ 68 h 201"/>
                <a:gd name="T2" fmla="*/ 8 w 208"/>
                <a:gd name="T3" fmla="*/ 78 h 201"/>
                <a:gd name="T4" fmla="*/ 31 w 208"/>
                <a:gd name="T5" fmla="*/ 72 h 201"/>
                <a:gd name="T6" fmla="*/ 64 w 208"/>
                <a:gd name="T7" fmla="*/ 172 h 201"/>
                <a:gd name="T8" fmla="*/ 106 w 208"/>
                <a:gd name="T9" fmla="*/ 189 h 201"/>
                <a:gd name="T10" fmla="*/ 197 w 208"/>
                <a:gd name="T11" fmla="*/ 62 h 201"/>
                <a:gd name="T12" fmla="*/ 114 w 208"/>
                <a:gd name="T13" fmla="*/ 67 h 201"/>
                <a:gd name="T14" fmla="*/ 137 w 208"/>
                <a:gd name="T15" fmla="*/ 94 h 201"/>
                <a:gd name="T16" fmla="*/ 109 w 208"/>
                <a:gd name="T17" fmla="*/ 130 h 201"/>
                <a:gd name="T18" fmla="*/ 93 w 208"/>
                <a:gd name="T19" fmla="*/ 90 h 201"/>
                <a:gd name="T20" fmla="*/ 60 w 208"/>
                <a:gd name="T21" fmla="*/ 22 h 201"/>
                <a:gd name="T22" fmla="*/ 0 w 208"/>
                <a:gd name="T23" fmla="*/ 6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1">
                  <a:moveTo>
                    <a:pt x="0" y="68"/>
                  </a:move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25" y="65"/>
                    <a:pt x="31" y="72"/>
                  </a:cubicBezTo>
                  <a:cubicBezTo>
                    <a:pt x="36" y="78"/>
                    <a:pt x="57" y="157"/>
                    <a:pt x="64" y="172"/>
                  </a:cubicBezTo>
                  <a:cubicBezTo>
                    <a:pt x="70" y="184"/>
                    <a:pt x="87" y="201"/>
                    <a:pt x="106" y="189"/>
                  </a:cubicBezTo>
                  <a:cubicBezTo>
                    <a:pt x="125" y="177"/>
                    <a:pt x="186" y="124"/>
                    <a:pt x="197" y="62"/>
                  </a:cubicBezTo>
                  <a:cubicBezTo>
                    <a:pt x="208" y="0"/>
                    <a:pt x="123" y="13"/>
                    <a:pt x="114" y="67"/>
                  </a:cubicBezTo>
                  <a:cubicBezTo>
                    <a:pt x="137" y="54"/>
                    <a:pt x="149" y="73"/>
                    <a:pt x="137" y="94"/>
                  </a:cubicBezTo>
                  <a:cubicBezTo>
                    <a:pt x="126" y="116"/>
                    <a:pt x="115" y="130"/>
                    <a:pt x="109" y="130"/>
                  </a:cubicBezTo>
                  <a:cubicBezTo>
                    <a:pt x="104" y="130"/>
                    <a:pt x="100" y="116"/>
                    <a:pt x="93" y="90"/>
                  </a:cubicBezTo>
                  <a:cubicBezTo>
                    <a:pt x="87" y="64"/>
                    <a:pt x="87" y="17"/>
                    <a:pt x="60" y="22"/>
                  </a:cubicBezTo>
                  <a:cubicBezTo>
                    <a:pt x="34" y="27"/>
                    <a:pt x="0" y="68"/>
                    <a:pt x="0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200414" y="2854289"/>
            <a:ext cx="1947746" cy="1068683"/>
            <a:chOff x="3200414" y="2854289"/>
            <a:chExt cx="1947746" cy="1068683"/>
          </a:xfrm>
        </p:grpSpPr>
        <p:grpSp>
          <p:nvGrpSpPr>
            <p:cNvPr id="5" name="Group 20"/>
            <p:cNvGrpSpPr/>
            <p:nvPr/>
          </p:nvGrpSpPr>
          <p:grpSpPr>
            <a:xfrm>
              <a:off x="3200414" y="2854289"/>
              <a:ext cx="1947746" cy="1068683"/>
              <a:chOff x="4267218" y="3805718"/>
              <a:chExt cx="2596994" cy="1424911"/>
            </a:xfrm>
          </p:grpSpPr>
          <p:sp>
            <p:nvSpPr>
              <p:cNvPr id="27" name="Speech Bubble: Oval 9"/>
              <p:cNvSpPr/>
              <p:nvPr/>
            </p:nvSpPr>
            <p:spPr>
              <a:xfrm rot="5400000">
                <a:off x="5477838" y="3844255"/>
                <a:ext cx="1424911" cy="1347837"/>
              </a:xfrm>
              <a:prstGeom prst="wedgeEllipseCallout">
                <a:avLst>
                  <a:gd name="adj1" fmla="val -29"/>
                  <a:gd name="adj2" fmla="val 65817"/>
                </a:avLst>
              </a:prstGeom>
              <a:solidFill>
                <a:schemeClr val="accent6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cxnSp>
            <p:nvCxnSpPr>
              <p:cNvPr id="28" name="Straight Connector 10"/>
              <p:cNvCxnSpPr/>
              <p:nvPr/>
            </p:nvCxnSpPr>
            <p:spPr>
              <a:xfrm rot="5400000">
                <a:off x="4721920" y="4063471"/>
                <a:ext cx="0" cy="909403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Freeform: Shape 35"/>
            <p:cNvSpPr>
              <a:spLocks noChangeAspect="1"/>
            </p:cNvSpPr>
            <p:nvPr/>
          </p:nvSpPr>
          <p:spPr bwMode="auto">
            <a:xfrm>
              <a:off x="4389341" y="3133814"/>
              <a:ext cx="506759" cy="506222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36"/>
          <p:cNvGrpSpPr/>
          <p:nvPr/>
        </p:nvGrpSpPr>
        <p:grpSpPr>
          <a:xfrm>
            <a:off x="179514" y="1427967"/>
            <a:ext cx="8431773" cy="2583942"/>
            <a:chOff x="264315" y="2643961"/>
            <a:chExt cx="11242363" cy="3445256"/>
          </a:xfrm>
        </p:grpSpPr>
        <p:grpSp>
          <p:nvGrpSpPr>
            <p:cNvPr id="13" name="Group 37"/>
            <p:cNvGrpSpPr/>
            <p:nvPr/>
          </p:nvGrpSpPr>
          <p:grpSpPr>
            <a:xfrm>
              <a:off x="8575271" y="2643961"/>
              <a:ext cx="2931407" cy="3199037"/>
              <a:chOff x="8575271" y="2643961"/>
              <a:chExt cx="2931407" cy="3199037"/>
            </a:xfrm>
          </p:grpSpPr>
          <p:sp>
            <p:nvSpPr>
              <p:cNvPr id="19" name="TextBox 43"/>
              <p:cNvSpPr txBox="1"/>
              <p:nvPr/>
            </p:nvSpPr>
            <p:spPr>
              <a:xfrm>
                <a:off x="8575271" y="2643961"/>
                <a:ext cx="2897592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 fontScale="92500" lnSpcReduction="20000"/>
              </a:bodyPr>
              <a:lstStyle/>
              <a:p>
                <a:r>
                  <a:rPr lang="en-US" altLang="zh-CN" b="1">
                    <a:solidFill>
                      <a:schemeClr val="accent2"/>
                    </a:solidFill>
                    <a:cs typeface="+mn-ea"/>
                    <a:sym typeface="+mn-lt"/>
                  </a:rPr>
                  <a:t>xxx</a:t>
                </a:r>
                <a:endParaRPr lang="zh-CN" altLang="en-US" b="1" dirty="0">
                  <a:solidFill>
                    <a:schemeClr val="accent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Rectangle 44"/>
              <p:cNvSpPr/>
              <p:nvPr/>
            </p:nvSpPr>
            <p:spPr>
              <a:xfrm>
                <a:off x="8575271" y="2920960"/>
                <a:ext cx="2897592" cy="867353"/>
              </a:xfrm>
              <a:prstGeom prst="rect">
                <a:avLst/>
              </a:prstGeom>
            </p:spPr>
            <p:txBody>
              <a:bodyPr wrap="square" lIns="0" tIns="0" rIns="0" bIns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ysClr val="windowText" lastClr="000000"/>
                    </a:solidFill>
                    <a:cs typeface="+mn-ea"/>
                    <a:sym typeface="+mn-lt"/>
                  </a:rPr>
                  <a:t>负责题目的选定，编写汇编代码，</a:t>
                </a:r>
                <a:r>
                  <a:rPr lang="en-US" altLang="zh-CN" sz="1400" dirty="0">
                    <a:solidFill>
                      <a:sysClr val="windowText" lastClr="000000"/>
                    </a:solidFill>
                    <a:cs typeface="+mn-ea"/>
                    <a:sym typeface="+mn-lt"/>
                  </a:rPr>
                  <a:t>PPT</a:t>
                </a:r>
                <a:r>
                  <a:rPr lang="zh-CN" altLang="en-US" sz="1400" dirty="0">
                    <a:solidFill>
                      <a:sysClr val="windowText" lastClr="000000"/>
                    </a:solidFill>
                    <a:cs typeface="+mn-ea"/>
                    <a:sym typeface="+mn-lt"/>
                  </a:rPr>
                  <a:t>与视频的制作</a:t>
                </a:r>
              </a:p>
            </p:txBody>
          </p:sp>
          <p:sp>
            <p:nvSpPr>
              <p:cNvPr id="21" name="TextBox 45"/>
              <p:cNvSpPr txBox="1"/>
              <p:nvPr/>
            </p:nvSpPr>
            <p:spPr>
              <a:xfrm>
                <a:off x="8591128" y="4808963"/>
                <a:ext cx="29155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 fontScale="92500" lnSpcReduction="20000"/>
              </a:bodyPr>
              <a:lstStyle/>
              <a:p>
                <a:r>
                  <a:rPr lang="en-US" altLang="zh-CN" b="1">
                    <a:solidFill>
                      <a:schemeClr val="accent5"/>
                    </a:solidFill>
                    <a:cs typeface="+mn-ea"/>
                    <a:sym typeface="+mn-lt"/>
                  </a:rPr>
                  <a:t>xxx</a:t>
                </a:r>
                <a:endParaRPr lang="zh-CN" altLang="en-US" b="1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Rectangle 46"/>
              <p:cNvSpPr/>
              <p:nvPr/>
            </p:nvSpPr>
            <p:spPr>
              <a:xfrm>
                <a:off x="8591128" y="5238325"/>
                <a:ext cx="2915550" cy="604673"/>
              </a:xfrm>
              <a:prstGeom prst="rect">
                <a:avLst/>
              </a:prstGeom>
            </p:spPr>
            <p:txBody>
              <a:bodyPr wrap="square" lIns="0" tIns="0" rIns="0" bIns="0" anchor="ctr"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ysClr val="windowText" lastClr="000000"/>
                    </a:solidFill>
                    <a:cs typeface="+mn-ea"/>
                    <a:sym typeface="+mn-lt"/>
                  </a:rPr>
                  <a:t>负责硬件部分的设计与实现，监督任务进度</a:t>
                </a:r>
              </a:p>
            </p:txBody>
          </p:sp>
        </p:grpSp>
        <p:grpSp>
          <p:nvGrpSpPr>
            <p:cNvPr id="14" name="Group 38"/>
            <p:cNvGrpSpPr/>
            <p:nvPr/>
          </p:nvGrpSpPr>
          <p:grpSpPr>
            <a:xfrm>
              <a:off x="264315" y="2719547"/>
              <a:ext cx="3372947" cy="3369670"/>
              <a:chOff x="264315" y="2719547"/>
              <a:chExt cx="3372947" cy="3369670"/>
            </a:xfrm>
          </p:grpSpPr>
          <p:sp>
            <p:nvSpPr>
              <p:cNvPr id="15" name="TextBox 39"/>
              <p:cNvSpPr txBox="1"/>
              <p:nvPr/>
            </p:nvSpPr>
            <p:spPr>
              <a:xfrm>
                <a:off x="735248" y="2719547"/>
                <a:ext cx="2902014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 fontScale="92500" lnSpcReduction="20000"/>
              </a:bodyPr>
              <a:lstStyle/>
              <a:p>
                <a:pPr algn="r"/>
                <a:r>
                  <a:rPr lang="en-US" altLang="zh-CN" b="1">
                    <a:solidFill>
                      <a:schemeClr val="accent1"/>
                    </a:solidFill>
                    <a:cs typeface="+mn-ea"/>
                    <a:sym typeface="+mn-lt"/>
                  </a:rPr>
                  <a:t>xxx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Rectangle 40"/>
              <p:cNvSpPr/>
              <p:nvPr/>
            </p:nvSpPr>
            <p:spPr>
              <a:xfrm>
                <a:off x="552346" y="2996546"/>
                <a:ext cx="3084916" cy="999841"/>
              </a:xfrm>
              <a:prstGeom prst="rect">
                <a:avLst/>
              </a:prstGeom>
            </p:spPr>
            <p:txBody>
              <a:bodyPr wrap="square" lIns="0" tIns="0" rIns="0" bIns="0" anchor="ctr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400" dirty="0"/>
                  <a:t>负责对电路的测试和完善，收集用户使用评价和反馈</a:t>
                </a:r>
                <a:endParaRPr lang="zh-CN" altLang="en-US" sz="1400" dirty="0">
                  <a:solidFill>
                    <a:srgbClr val="FF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TextBox 41"/>
              <p:cNvSpPr txBox="1"/>
              <p:nvPr/>
            </p:nvSpPr>
            <p:spPr>
              <a:xfrm>
                <a:off x="735248" y="4812378"/>
                <a:ext cx="2855562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 fontScale="92500" lnSpcReduction="20000"/>
              </a:bodyPr>
              <a:lstStyle/>
              <a:p>
                <a:pPr algn="r"/>
                <a:r>
                  <a:rPr lang="en-US" altLang="zh-CN" b="1">
                    <a:solidFill>
                      <a:schemeClr val="accent4"/>
                    </a:solidFill>
                    <a:cs typeface="+mn-ea"/>
                    <a:sym typeface="+mn-lt"/>
                  </a:rPr>
                  <a:t>xxx</a:t>
                </a:r>
                <a:endParaRPr lang="zh-CN" altLang="en-US" b="1" dirty="0">
                  <a:solidFill>
                    <a:schemeClr val="accent4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Rectangle 42"/>
              <p:cNvSpPr/>
              <p:nvPr/>
            </p:nvSpPr>
            <p:spPr>
              <a:xfrm>
                <a:off x="264315" y="5089376"/>
                <a:ext cx="3326495" cy="999841"/>
              </a:xfrm>
              <a:prstGeom prst="rect">
                <a:avLst/>
              </a:prstGeom>
            </p:spPr>
            <p:txBody>
              <a:bodyPr wrap="square" lIns="0" tIns="0" rIns="0" bIns="0" anchor="ctr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ysClr val="windowText" lastClr="000000"/>
                    </a:solidFill>
                    <a:cs typeface="+mn-ea"/>
                    <a:sym typeface="+mn-lt"/>
                  </a:rPr>
                  <a:t>负责游戏开始界面、与获胜界面的设计，三个关卡的界面设计</a:t>
                </a:r>
              </a:p>
            </p:txBody>
          </p:sp>
        </p:grp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D83F68CB-3A5C-4B1E-9ED6-73DF482A274D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团队分工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02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66202" y="0"/>
            <a:ext cx="3261981" cy="5143501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168" y="1809376"/>
            <a:ext cx="3838047" cy="1554462"/>
          </a:xfrm>
          <a:prstGeom prst="rect">
            <a:avLst/>
          </a:prstGeom>
          <a:solidFill>
            <a:srgbClr val="0083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48"/>
          <p:cNvSpPr txBox="1"/>
          <p:nvPr/>
        </p:nvSpPr>
        <p:spPr>
          <a:xfrm>
            <a:off x="3275856" y="2086606"/>
            <a:ext cx="28168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任务总结</a:t>
            </a:r>
            <a:endParaRPr lang="en-GB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3854898" y="155367"/>
            <a:ext cx="148458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06</a:t>
            </a:r>
            <a:endParaRPr lang="en-GB" altLang="zh-CN" sz="9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267494"/>
            <a:ext cx="1182112" cy="9743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5" y="1093588"/>
            <a:ext cx="1493489" cy="3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1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6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7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34"/>
          <p:cNvGrpSpPr/>
          <p:nvPr/>
        </p:nvGrpSpPr>
        <p:grpSpPr>
          <a:xfrm>
            <a:off x="3076093" y="1240080"/>
            <a:ext cx="3002037" cy="2956609"/>
            <a:chOff x="8809631" y="1360739"/>
            <a:chExt cx="4002716" cy="3942145"/>
          </a:xfrm>
        </p:grpSpPr>
        <p:sp>
          <p:nvSpPr>
            <p:cNvPr id="100" name="Freeform: Shape 98"/>
            <p:cNvSpPr>
              <a:spLocks/>
            </p:cNvSpPr>
            <p:nvPr/>
          </p:nvSpPr>
          <p:spPr bwMode="auto">
            <a:xfrm>
              <a:off x="11732169" y="2341648"/>
              <a:ext cx="482883" cy="1179447"/>
            </a:xfrm>
            <a:custGeom>
              <a:avLst/>
              <a:gdLst>
                <a:gd name="T0" fmla="*/ 7 w 287"/>
                <a:gd name="T1" fmla="*/ 417 h 701"/>
                <a:gd name="T2" fmla="*/ 230 w 287"/>
                <a:gd name="T3" fmla="*/ 701 h 701"/>
                <a:gd name="T4" fmla="*/ 287 w 287"/>
                <a:gd name="T5" fmla="*/ 310 h 701"/>
                <a:gd name="T6" fmla="*/ 0 w 287"/>
                <a:gd name="T7" fmla="*/ 0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7" h="701">
                  <a:moveTo>
                    <a:pt x="7" y="417"/>
                  </a:moveTo>
                  <a:lnTo>
                    <a:pt x="230" y="701"/>
                  </a:lnTo>
                  <a:lnTo>
                    <a:pt x="287" y="310"/>
                  </a:lnTo>
                  <a:lnTo>
                    <a:pt x="0" y="0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Freeform: Shape 95"/>
            <p:cNvSpPr>
              <a:spLocks/>
            </p:cNvSpPr>
            <p:nvPr/>
          </p:nvSpPr>
          <p:spPr bwMode="auto">
            <a:xfrm>
              <a:off x="10424851" y="1360739"/>
              <a:ext cx="1467158" cy="3428976"/>
            </a:xfrm>
            <a:custGeom>
              <a:avLst/>
              <a:gdLst>
                <a:gd name="T0" fmla="*/ 853 w 872"/>
                <a:gd name="T1" fmla="*/ 2038 h 2038"/>
                <a:gd name="T2" fmla="*/ 500 w 872"/>
                <a:gd name="T3" fmla="*/ 1597 h 2038"/>
                <a:gd name="T4" fmla="*/ 265 w 872"/>
                <a:gd name="T5" fmla="*/ 1723 h 2038"/>
                <a:gd name="T6" fmla="*/ 225 w 872"/>
                <a:gd name="T7" fmla="*/ 1758 h 2038"/>
                <a:gd name="T8" fmla="*/ 242 w 872"/>
                <a:gd name="T9" fmla="*/ 2023 h 2038"/>
                <a:gd name="T10" fmla="*/ 872 w 872"/>
                <a:gd name="T11" fmla="*/ 2023 h 2038"/>
                <a:gd name="T12" fmla="*/ 493 w 872"/>
                <a:gd name="T13" fmla="*/ 1173 h 2038"/>
                <a:gd name="T14" fmla="*/ 749 w 872"/>
                <a:gd name="T15" fmla="*/ 533 h 2038"/>
                <a:gd name="T16" fmla="*/ 772 w 872"/>
                <a:gd name="T17" fmla="*/ 986 h 2038"/>
                <a:gd name="T18" fmla="*/ 498 w 872"/>
                <a:gd name="T19" fmla="*/ 1133 h 2038"/>
                <a:gd name="T20" fmla="*/ 443 w 872"/>
                <a:gd name="T21" fmla="*/ 796 h 2038"/>
                <a:gd name="T22" fmla="*/ 725 w 872"/>
                <a:gd name="T23" fmla="*/ 536 h 2038"/>
                <a:gd name="T24" fmla="*/ 0 w 872"/>
                <a:gd name="T25" fmla="*/ 0 h 2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2" h="2038">
                  <a:moveTo>
                    <a:pt x="853" y="2038"/>
                  </a:moveTo>
                  <a:lnTo>
                    <a:pt x="500" y="1597"/>
                  </a:lnTo>
                  <a:lnTo>
                    <a:pt x="265" y="1723"/>
                  </a:lnTo>
                  <a:lnTo>
                    <a:pt x="225" y="1758"/>
                  </a:lnTo>
                  <a:lnTo>
                    <a:pt x="242" y="2023"/>
                  </a:lnTo>
                  <a:lnTo>
                    <a:pt x="872" y="2023"/>
                  </a:lnTo>
                  <a:lnTo>
                    <a:pt x="493" y="1173"/>
                  </a:lnTo>
                  <a:lnTo>
                    <a:pt x="749" y="533"/>
                  </a:lnTo>
                  <a:lnTo>
                    <a:pt x="772" y="986"/>
                  </a:lnTo>
                  <a:lnTo>
                    <a:pt x="498" y="1133"/>
                  </a:lnTo>
                  <a:lnTo>
                    <a:pt x="443" y="796"/>
                  </a:lnTo>
                  <a:lnTo>
                    <a:pt x="725" y="536"/>
                  </a:lnTo>
                  <a:lnTo>
                    <a:pt x="0" y="0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Straight Connector 93"/>
            <p:cNvSpPr>
              <a:spLocks/>
            </p:cNvSpPr>
            <p:nvPr/>
          </p:nvSpPr>
          <p:spPr bwMode="auto">
            <a:xfrm flipH="1">
              <a:off x="9798953" y="2074128"/>
              <a:ext cx="1033068" cy="713389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Freeform: Shape 86"/>
            <p:cNvSpPr>
              <a:spLocks/>
            </p:cNvSpPr>
            <p:nvPr/>
          </p:nvSpPr>
          <p:spPr bwMode="auto">
            <a:xfrm>
              <a:off x="8809631" y="1392707"/>
              <a:ext cx="3923638" cy="3834464"/>
            </a:xfrm>
            <a:custGeom>
              <a:avLst/>
              <a:gdLst>
                <a:gd name="T0" fmla="*/ 974 w 2332"/>
                <a:gd name="T1" fmla="*/ 0 h 2279"/>
                <a:gd name="T2" fmla="*/ 1581 w 2332"/>
                <a:gd name="T3" fmla="*/ 81 h 2279"/>
                <a:gd name="T4" fmla="*/ 2059 w 2332"/>
                <a:gd name="T5" fmla="*/ 360 h 2279"/>
                <a:gd name="T6" fmla="*/ 2332 w 2332"/>
                <a:gd name="T7" fmla="*/ 820 h 2279"/>
                <a:gd name="T8" fmla="*/ 2249 w 2332"/>
                <a:gd name="T9" fmla="*/ 1718 h 2279"/>
                <a:gd name="T10" fmla="*/ 1652 w 2332"/>
                <a:gd name="T11" fmla="*/ 2279 h 2279"/>
                <a:gd name="T12" fmla="*/ 714 w 2332"/>
                <a:gd name="T13" fmla="*/ 2279 h 2279"/>
                <a:gd name="T14" fmla="*/ 57 w 2332"/>
                <a:gd name="T15" fmla="*/ 1649 h 2279"/>
                <a:gd name="T16" fmla="*/ 0 w 2332"/>
                <a:gd name="T17" fmla="*/ 967 h 2279"/>
                <a:gd name="T18" fmla="*/ 221 w 2332"/>
                <a:gd name="T19" fmla="*/ 448 h 2279"/>
                <a:gd name="T20" fmla="*/ 974 w 2332"/>
                <a:gd name="T21" fmla="*/ 0 h 2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32" h="2279">
                  <a:moveTo>
                    <a:pt x="974" y="0"/>
                  </a:moveTo>
                  <a:lnTo>
                    <a:pt x="1581" y="81"/>
                  </a:lnTo>
                  <a:lnTo>
                    <a:pt x="2059" y="360"/>
                  </a:lnTo>
                  <a:lnTo>
                    <a:pt x="2332" y="820"/>
                  </a:lnTo>
                  <a:lnTo>
                    <a:pt x="2249" y="1718"/>
                  </a:lnTo>
                  <a:lnTo>
                    <a:pt x="1652" y="2279"/>
                  </a:lnTo>
                  <a:lnTo>
                    <a:pt x="714" y="2279"/>
                  </a:lnTo>
                  <a:lnTo>
                    <a:pt x="57" y="1649"/>
                  </a:lnTo>
                  <a:lnTo>
                    <a:pt x="0" y="967"/>
                  </a:lnTo>
                  <a:lnTo>
                    <a:pt x="221" y="448"/>
                  </a:lnTo>
                  <a:lnTo>
                    <a:pt x="974" y="0"/>
                  </a:lnTo>
                  <a:close/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Freeform: Shape 87"/>
            <p:cNvSpPr>
              <a:spLocks/>
            </p:cNvSpPr>
            <p:nvPr/>
          </p:nvSpPr>
          <p:spPr bwMode="auto">
            <a:xfrm>
              <a:off x="9181468" y="1820067"/>
              <a:ext cx="3630879" cy="3407104"/>
            </a:xfrm>
            <a:custGeom>
              <a:avLst/>
              <a:gdLst>
                <a:gd name="T0" fmla="*/ 0 w 2158"/>
                <a:gd name="T1" fmla="*/ 194 h 2025"/>
                <a:gd name="T2" fmla="*/ 651 w 2158"/>
                <a:gd name="T3" fmla="*/ 0 h 2025"/>
                <a:gd name="T4" fmla="*/ 981 w 2158"/>
                <a:gd name="T5" fmla="*/ 151 h 2025"/>
                <a:gd name="T6" fmla="*/ 1452 w 2158"/>
                <a:gd name="T7" fmla="*/ 284 h 2025"/>
                <a:gd name="T8" fmla="*/ 2158 w 2158"/>
                <a:gd name="T9" fmla="*/ 578 h 2025"/>
                <a:gd name="T10" fmla="*/ 1746 w 2158"/>
                <a:gd name="T11" fmla="*/ 966 h 2025"/>
                <a:gd name="T12" fmla="*/ 2059 w 2158"/>
                <a:gd name="T13" fmla="*/ 1464 h 2025"/>
                <a:gd name="T14" fmla="*/ 1618 w 2158"/>
                <a:gd name="T15" fmla="*/ 1724 h 2025"/>
                <a:gd name="T16" fmla="*/ 528 w 2158"/>
                <a:gd name="T17" fmla="*/ 2025 h 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8" h="2025">
                  <a:moveTo>
                    <a:pt x="0" y="194"/>
                  </a:moveTo>
                  <a:lnTo>
                    <a:pt x="651" y="0"/>
                  </a:lnTo>
                  <a:lnTo>
                    <a:pt x="981" y="151"/>
                  </a:lnTo>
                  <a:lnTo>
                    <a:pt x="1452" y="284"/>
                  </a:lnTo>
                  <a:lnTo>
                    <a:pt x="2158" y="578"/>
                  </a:lnTo>
                  <a:lnTo>
                    <a:pt x="1746" y="966"/>
                  </a:lnTo>
                  <a:lnTo>
                    <a:pt x="2059" y="1464"/>
                  </a:lnTo>
                  <a:lnTo>
                    <a:pt x="1618" y="1724"/>
                  </a:lnTo>
                  <a:lnTo>
                    <a:pt x="528" y="2025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Freeform: Shape 88"/>
            <p:cNvSpPr>
              <a:spLocks/>
            </p:cNvSpPr>
            <p:nvPr/>
          </p:nvSpPr>
          <p:spPr bwMode="auto">
            <a:xfrm>
              <a:off x="9181468" y="1397754"/>
              <a:ext cx="2937681" cy="3873162"/>
            </a:xfrm>
            <a:custGeom>
              <a:avLst/>
              <a:gdLst>
                <a:gd name="T0" fmla="*/ 0 w 1746"/>
                <a:gd name="T1" fmla="*/ 469 h 2302"/>
                <a:gd name="T2" fmla="*/ 192 w 1746"/>
                <a:gd name="T3" fmla="*/ 739 h 2302"/>
                <a:gd name="T4" fmla="*/ 945 w 1746"/>
                <a:gd name="T5" fmla="*/ 417 h 2302"/>
                <a:gd name="T6" fmla="*/ 888 w 1746"/>
                <a:gd name="T7" fmla="*/ 739 h 2302"/>
                <a:gd name="T8" fmla="*/ 981 w 1746"/>
                <a:gd name="T9" fmla="*/ 1729 h 2302"/>
                <a:gd name="T10" fmla="*/ 1618 w 1746"/>
                <a:gd name="T11" fmla="*/ 1975 h 2302"/>
                <a:gd name="T12" fmla="*/ 1746 w 1746"/>
                <a:gd name="T13" fmla="*/ 1236 h 2302"/>
                <a:gd name="T14" fmla="*/ 1452 w 1746"/>
                <a:gd name="T15" fmla="*/ 535 h 2302"/>
                <a:gd name="T16" fmla="*/ 898 w 1746"/>
                <a:gd name="T17" fmla="*/ 753 h 2302"/>
                <a:gd name="T18" fmla="*/ 1220 w 1746"/>
                <a:gd name="T19" fmla="*/ 1137 h 2302"/>
                <a:gd name="T20" fmla="*/ 950 w 1746"/>
                <a:gd name="T21" fmla="*/ 1717 h 2302"/>
                <a:gd name="T22" fmla="*/ 945 w 1746"/>
                <a:gd name="T23" fmla="*/ 1729 h 2302"/>
                <a:gd name="T24" fmla="*/ 481 w 1746"/>
                <a:gd name="T25" fmla="*/ 2302 h 2302"/>
                <a:gd name="T26" fmla="*/ 239 w 1746"/>
                <a:gd name="T27" fmla="*/ 1137 h 2302"/>
                <a:gd name="T28" fmla="*/ 945 w 1746"/>
                <a:gd name="T29" fmla="*/ 398 h 2302"/>
                <a:gd name="T30" fmla="*/ 774 w 1746"/>
                <a:gd name="T31" fmla="*/ 0 h 2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46" h="2302">
                  <a:moveTo>
                    <a:pt x="0" y="469"/>
                  </a:moveTo>
                  <a:lnTo>
                    <a:pt x="192" y="739"/>
                  </a:lnTo>
                  <a:lnTo>
                    <a:pt x="945" y="417"/>
                  </a:lnTo>
                  <a:lnTo>
                    <a:pt x="888" y="739"/>
                  </a:lnTo>
                  <a:lnTo>
                    <a:pt x="981" y="1729"/>
                  </a:lnTo>
                  <a:lnTo>
                    <a:pt x="1618" y="1975"/>
                  </a:lnTo>
                  <a:lnTo>
                    <a:pt x="1746" y="1236"/>
                  </a:lnTo>
                  <a:lnTo>
                    <a:pt x="1452" y="535"/>
                  </a:lnTo>
                  <a:lnTo>
                    <a:pt x="898" y="753"/>
                  </a:lnTo>
                  <a:lnTo>
                    <a:pt x="1220" y="1137"/>
                  </a:lnTo>
                  <a:lnTo>
                    <a:pt x="950" y="1717"/>
                  </a:lnTo>
                  <a:lnTo>
                    <a:pt x="945" y="1729"/>
                  </a:lnTo>
                  <a:lnTo>
                    <a:pt x="481" y="2302"/>
                  </a:lnTo>
                  <a:lnTo>
                    <a:pt x="239" y="1137"/>
                  </a:lnTo>
                  <a:lnTo>
                    <a:pt x="945" y="398"/>
                  </a:lnTo>
                  <a:lnTo>
                    <a:pt x="774" y="0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Freeform: Shape 89"/>
            <p:cNvSpPr>
              <a:spLocks/>
            </p:cNvSpPr>
            <p:nvPr/>
          </p:nvSpPr>
          <p:spPr bwMode="auto">
            <a:xfrm>
              <a:off x="8809631" y="2664692"/>
              <a:ext cx="1918073" cy="1845725"/>
            </a:xfrm>
            <a:custGeom>
              <a:avLst/>
              <a:gdLst>
                <a:gd name="T0" fmla="*/ 469 w 1140"/>
                <a:gd name="T1" fmla="*/ 327 h 1097"/>
                <a:gd name="T2" fmla="*/ 588 w 1140"/>
                <a:gd name="T3" fmla="*/ 52 h 1097"/>
                <a:gd name="T4" fmla="*/ 389 w 1140"/>
                <a:gd name="T5" fmla="*/ 0 h 1097"/>
                <a:gd name="T6" fmla="*/ 0 w 1140"/>
                <a:gd name="T7" fmla="*/ 211 h 1097"/>
                <a:gd name="T8" fmla="*/ 263 w 1140"/>
                <a:gd name="T9" fmla="*/ 453 h 1097"/>
                <a:gd name="T10" fmla="*/ 71 w 1140"/>
                <a:gd name="T11" fmla="*/ 905 h 1097"/>
                <a:gd name="T12" fmla="*/ 541 w 1140"/>
                <a:gd name="T13" fmla="*/ 948 h 1097"/>
                <a:gd name="T14" fmla="*/ 770 w 1140"/>
                <a:gd name="T15" fmla="*/ 1097 h 1097"/>
                <a:gd name="T16" fmla="*/ 1140 w 1140"/>
                <a:gd name="T17" fmla="*/ 983 h 1097"/>
                <a:gd name="T18" fmla="*/ 541 w 1140"/>
                <a:gd name="T19" fmla="*/ 91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0" h="1097">
                  <a:moveTo>
                    <a:pt x="469" y="327"/>
                  </a:moveTo>
                  <a:lnTo>
                    <a:pt x="588" y="52"/>
                  </a:lnTo>
                  <a:lnTo>
                    <a:pt x="389" y="0"/>
                  </a:lnTo>
                  <a:lnTo>
                    <a:pt x="0" y="211"/>
                  </a:lnTo>
                  <a:lnTo>
                    <a:pt x="263" y="453"/>
                  </a:lnTo>
                  <a:lnTo>
                    <a:pt x="71" y="905"/>
                  </a:lnTo>
                  <a:lnTo>
                    <a:pt x="541" y="948"/>
                  </a:lnTo>
                  <a:lnTo>
                    <a:pt x="770" y="1097"/>
                  </a:lnTo>
                  <a:lnTo>
                    <a:pt x="1140" y="983"/>
                  </a:lnTo>
                  <a:lnTo>
                    <a:pt x="541" y="917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Freeform: Shape 90"/>
            <p:cNvSpPr>
              <a:spLocks/>
            </p:cNvSpPr>
            <p:nvPr/>
          </p:nvSpPr>
          <p:spPr bwMode="auto">
            <a:xfrm>
              <a:off x="8841599" y="2592344"/>
              <a:ext cx="686468" cy="718436"/>
            </a:xfrm>
            <a:custGeom>
              <a:avLst/>
              <a:gdLst>
                <a:gd name="T0" fmla="*/ 375 w 408"/>
                <a:gd name="T1" fmla="*/ 0 h 427"/>
                <a:gd name="T2" fmla="*/ 408 w 408"/>
                <a:gd name="T3" fmla="*/ 427 h 427"/>
                <a:gd name="T4" fmla="*/ 0 w 408"/>
                <a:gd name="T5" fmla="*/ 275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427">
                  <a:moveTo>
                    <a:pt x="375" y="0"/>
                  </a:moveTo>
                  <a:lnTo>
                    <a:pt x="408" y="427"/>
                  </a:lnTo>
                  <a:lnTo>
                    <a:pt x="0" y="275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Freeform: Shape 91"/>
            <p:cNvSpPr>
              <a:spLocks/>
            </p:cNvSpPr>
            <p:nvPr/>
          </p:nvSpPr>
          <p:spPr bwMode="auto">
            <a:xfrm>
              <a:off x="9528067" y="1392707"/>
              <a:ext cx="2686985" cy="1199637"/>
            </a:xfrm>
            <a:custGeom>
              <a:avLst/>
              <a:gdLst>
                <a:gd name="T0" fmla="*/ 0 w 1597"/>
                <a:gd name="T1" fmla="*/ 713 h 713"/>
                <a:gd name="T2" fmla="*/ 424 w 1597"/>
                <a:gd name="T3" fmla="*/ 261 h 713"/>
                <a:gd name="T4" fmla="*/ 547 w 1597"/>
                <a:gd name="T5" fmla="*/ 0 h 713"/>
                <a:gd name="T6" fmla="*/ 566 w 1597"/>
                <a:gd name="T7" fmla="*/ 10 h 713"/>
                <a:gd name="T8" fmla="*/ 1057 w 1597"/>
                <a:gd name="T9" fmla="*/ 254 h 713"/>
                <a:gd name="T10" fmla="*/ 1154 w 1597"/>
                <a:gd name="T11" fmla="*/ 81 h 713"/>
                <a:gd name="T12" fmla="*/ 1265 w 1597"/>
                <a:gd name="T13" fmla="*/ 500 h 713"/>
                <a:gd name="T14" fmla="*/ 1597 w 1597"/>
                <a:gd name="T15" fmla="*/ 358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7" h="713">
                  <a:moveTo>
                    <a:pt x="0" y="713"/>
                  </a:moveTo>
                  <a:lnTo>
                    <a:pt x="424" y="261"/>
                  </a:lnTo>
                  <a:lnTo>
                    <a:pt x="547" y="0"/>
                  </a:lnTo>
                  <a:lnTo>
                    <a:pt x="566" y="10"/>
                  </a:lnTo>
                  <a:lnTo>
                    <a:pt x="1057" y="254"/>
                  </a:lnTo>
                  <a:lnTo>
                    <a:pt x="1154" y="81"/>
                  </a:lnTo>
                  <a:lnTo>
                    <a:pt x="1265" y="500"/>
                  </a:lnTo>
                  <a:lnTo>
                    <a:pt x="1597" y="358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Freeform: Shape 92"/>
            <p:cNvSpPr>
              <a:spLocks/>
            </p:cNvSpPr>
            <p:nvPr/>
          </p:nvSpPr>
          <p:spPr bwMode="auto">
            <a:xfrm>
              <a:off x="9554988" y="2664692"/>
              <a:ext cx="1277033" cy="1653917"/>
            </a:xfrm>
            <a:custGeom>
              <a:avLst/>
              <a:gdLst>
                <a:gd name="T0" fmla="*/ 0 w 759"/>
                <a:gd name="T1" fmla="*/ 398 h 983"/>
                <a:gd name="T2" fmla="*/ 759 w 759"/>
                <a:gd name="T3" fmla="*/ 983 h 983"/>
                <a:gd name="T4" fmla="*/ 552 w 759"/>
                <a:gd name="T5" fmla="*/ 512 h 983"/>
                <a:gd name="T6" fmla="*/ 759 w 759"/>
                <a:gd name="T7" fmla="*/ 448 h 983"/>
                <a:gd name="T8" fmla="*/ 652 w 759"/>
                <a:gd name="T9" fmla="*/ 0 h 983"/>
                <a:gd name="T10" fmla="*/ 34 w 759"/>
                <a:gd name="T11" fmla="*/ 384 h 983"/>
                <a:gd name="T12" fmla="*/ 541 w 759"/>
                <a:gd name="T13" fmla="*/ 512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9" h="983">
                  <a:moveTo>
                    <a:pt x="0" y="398"/>
                  </a:moveTo>
                  <a:lnTo>
                    <a:pt x="759" y="983"/>
                  </a:lnTo>
                  <a:lnTo>
                    <a:pt x="552" y="512"/>
                  </a:lnTo>
                  <a:lnTo>
                    <a:pt x="759" y="448"/>
                  </a:lnTo>
                  <a:lnTo>
                    <a:pt x="652" y="0"/>
                  </a:lnTo>
                  <a:lnTo>
                    <a:pt x="34" y="384"/>
                  </a:lnTo>
                  <a:lnTo>
                    <a:pt x="541" y="512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Freeform: Shape 94"/>
            <p:cNvSpPr>
              <a:spLocks/>
            </p:cNvSpPr>
            <p:nvPr/>
          </p:nvSpPr>
          <p:spPr bwMode="auto">
            <a:xfrm>
              <a:off x="11309856" y="3334335"/>
              <a:ext cx="780689" cy="489613"/>
            </a:xfrm>
            <a:custGeom>
              <a:avLst/>
              <a:gdLst>
                <a:gd name="T0" fmla="*/ 0 w 464"/>
                <a:gd name="T1" fmla="*/ 0 h 291"/>
                <a:gd name="T2" fmla="*/ 296 w 464"/>
                <a:gd name="T3" fmla="*/ 291 h 291"/>
                <a:gd name="T4" fmla="*/ 464 w 464"/>
                <a:gd name="T5" fmla="*/ 95 h 291"/>
                <a:gd name="T6" fmla="*/ 0 w 464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291">
                  <a:moveTo>
                    <a:pt x="0" y="0"/>
                  </a:moveTo>
                  <a:lnTo>
                    <a:pt x="296" y="291"/>
                  </a:lnTo>
                  <a:lnTo>
                    <a:pt x="464" y="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Freeform: Shape 96"/>
            <p:cNvSpPr>
              <a:spLocks/>
            </p:cNvSpPr>
            <p:nvPr/>
          </p:nvSpPr>
          <p:spPr bwMode="auto">
            <a:xfrm>
              <a:off x="8949280" y="3374716"/>
              <a:ext cx="1196272" cy="1928168"/>
            </a:xfrm>
            <a:custGeom>
              <a:avLst/>
              <a:gdLst>
                <a:gd name="T0" fmla="*/ 711 w 711"/>
                <a:gd name="T1" fmla="*/ 689 h 1146"/>
                <a:gd name="T2" fmla="*/ 628 w 711"/>
                <a:gd name="T3" fmla="*/ 1146 h 1146"/>
                <a:gd name="T4" fmla="*/ 469 w 711"/>
                <a:gd name="T5" fmla="*/ 533 h 1146"/>
                <a:gd name="T6" fmla="*/ 280 w 711"/>
                <a:gd name="T7" fmla="*/ 303 h 1146"/>
                <a:gd name="T8" fmla="*/ 0 w 711"/>
                <a:gd name="T9" fmla="*/ 452 h 1146"/>
                <a:gd name="T10" fmla="*/ 344 w 711"/>
                <a:gd name="T11" fmla="*/ 0 h 1146"/>
                <a:gd name="T12" fmla="*/ 299 w 711"/>
                <a:gd name="T13" fmla="*/ 291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1" h="1146">
                  <a:moveTo>
                    <a:pt x="711" y="689"/>
                  </a:moveTo>
                  <a:lnTo>
                    <a:pt x="628" y="1146"/>
                  </a:lnTo>
                  <a:lnTo>
                    <a:pt x="469" y="533"/>
                  </a:lnTo>
                  <a:lnTo>
                    <a:pt x="280" y="303"/>
                  </a:lnTo>
                  <a:lnTo>
                    <a:pt x="0" y="452"/>
                  </a:lnTo>
                  <a:lnTo>
                    <a:pt x="344" y="0"/>
                  </a:lnTo>
                  <a:lnTo>
                    <a:pt x="299" y="291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Straight Connector 97"/>
            <p:cNvSpPr>
              <a:spLocks/>
            </p:cNvSpPr>
            <p:nvPr/>
          </p:nvSpPr>
          <p:spPr bwMode="auto">
            <a:xfrm flipH="1" flipV="1">
              <a:off x="9607146" y="3374716"/>
              <a:ext cx="1224875" cy="7571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Straight Connector 99"/>
            <p:cNvSpPr>
              <a:spLocks/>
            </p:cNvSpPr>
            <p:nvPr/>
          </p:nvSpPr>
          <p:spPr bwMode="auto">
            <a:xfrm flipH="1">
              <a:off x="12171307" y="2787516"/>
              <a:ext cx="498026" cy="80761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Freeform: Shape 100"/>
            <p:cNvSpPr>
              <a:spLocks/>
            </p:cNvSpPr>
            <p:nvPr/>
          </p:nvSpPr>
          <p:spPr bwMode="auto">
            <a:xfrm>
              <a:off x="11923976" y="3521095"/>
              <a:ext cx="291076" cy="1268620"/>
            </a:xfrm>
            <a:custGeom>
              <a:avLst/>
              <a:gdLst>
                <a:gd name="T0" fmla="*/ 0 w 173"/>
                <a:gd name="T1" fmla="*/ 754 h 754"/>
                <a:gd name="T2" fmla="*/ 173 w 173"/>
                <a:gd name="T3" fmla="*/ 308 h 754"/>
                <a:gd name="T4" fmla="*/ 116 w 173"/>
                <a:gd name="T5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" h="754">
                  <a:moveTo>
                    <a:pt x="0" y="754"/>
                  </a:moveTo>
                  <a:lnTo>
                    <a:pt x="173" y="308"/>
                  </a:lnTo>
                  <a:lnTo>
                    <a:pt x="116" y="0"/>
                  </a:lnTo>
                </a:path>
              </a:pathLst>
            </a:cu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Straight Connector 101"/>
            <p:cNvSpPr>
              <a:spLocks/>
            </p:cNvSpPr>
            <p:nvPr/>
          </p:nvSpPr>
          <p:spPr bwMode="auto">
            <a:xfrm flipH="1" flipV="1">
              <a:off x="12215052" y="4039311"/>
              <a:ext cx="454281" cy="279298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Straight Connector 102"/>
            <p:cNvSpPr>
              <a:spLocks/>
            </p:cNvSpPr>
            <p:nvPr/>
          </p:nvSpPr>
          <p:spPr bwMode="auto">
            <a:xfrm>
              <a:off x="11819660" y="3852552"/>
              <a:ext cx="72348" cy="937164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Straight Connector 103"/>
            <p:cNvSpPr>
              <a:spLocks/>
            </p:cNvSpPr>
            <p:nvPr/>
          </p:nvSpPr>
          <p:spPr bwMode="auto">
            <a:xfrm flipH="1">
              <a:off x="9962157" y="4789715"/>
              <a:ext cx="844625" cy="513169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Straight Connector 104"/>
            <p:cNvSpPr>
              <a:spLocks/>
            </p:cNvSpPr>
            <p:nvPr/>
          </p:nvSpPr>
          <p:spPr bwMode="auto">
            <a:xfrm flipH="1">
              <a:off x="10727704" y="2684882"/>
              <a:ext cx="457646" cy="0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Straight Connector 105"/>
            <p:cNvSpPr>
              <a:spLocks/>
            </p:cNvSpPr>
            <p:nvPr/>
          </p:nvSpPr>
          <p:spPr bwMode="auto">
            <a:xfrm flipH="1">
              <a:off x="10870718" y="3310780"/>
              <a:ext cx="314631" cy="99269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9" name="Oval 106"/>
          <p:cNvSpPr>
            <a:spLocks/>
          </p:cNvSpPr>
          <p:nvPr/>
        </p:nvSpPr>
        <p:spPr bwMode="auto">
          <a:xfrm>
            <a:off x="4899883" y="1568846"/>
            <a:ext cx="102213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0" name="Oval 107"/>
          <p:cNvSpPr>
            <a:spLocks/>
          </p:cNvSpPr>
          <p:nvPr/>
        </p:nvSpPr>
        <p:spPr bwMode="auto">
          <a:xfrm>
            <a:off x="5582565" y="2313361"/>
            <a:ext cx="100951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1" name="Oval 108"/>
          <p:cNvSpPr>
            <a:spLocks/>
          </p:cNvSpPr>
          <p:nvPr/>
        </p:nvSpPr>
        <p:spPr bwMode="auto">
          <a:xfrm>
            <a:off x="5220403" y="2448383"/>
            <a:ext cx="100951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2" name="Oval 109"/>
          <p:cNvSpPr>
            <a:spLocks/>
          </p:cNvSpPr>
          <p:nvPr/>
        </p:nvSpPr>
        <p:spPr bwMode="auto">
          <a:xfrm>
            <a:off x="4810289" y="2197267"/>
            <a:ext cx="102213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3" name="Oval 110"/>
          <p:cNvSpPr>
            <a:spLocks/>
          </p:cNvSpPr>
          <p:nvPr/>
        </p:nvSpPr>
        <p:spPr bwMode="auto">
          <a:xfrm>
            <a:off x="4272723" y="2824427"/>
            <a:ext cx="100951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4" name="Oval 111"/>
          <p:cNvSpPr>
            <a:spLocks/>
          </p:cNvSpPr>
          <p:nvPr/>
        </p:nvSpPr>
        <p:spPr bwMode="auto">
          <a:xfrm>
            <a:off x="3770491" y="2256576"/>
            <a:ext cx="100951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5" name="Oval 112"/>
          <p:cNvSpPr>
            <a:spLocks/>
          </p:cNvSpPr>
          <p:nvPr/>
        </p:nvSpPr>
        <p:spPr bwMode="auto">
          <a:xfrm>
            <a:off x="3330092" y="2752499"/>
            <a:ext cx="102213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6" name="Oval 113"/>
          <p:cNvSpPr>
            <a:spLocks/>
          </p:cNvSpPr>
          <p:nvPr/>
        </p:nvSpPr>
        <p:spPr bwMode="auto">
          <a:xfrm>
            <a:off x="3504232" y="3084376"/>
            <a:ext cx="100951" cy="102213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7" name="Oval 114"/>
          <p:cNvSpPr>
            <a:spLocks/>
          </p:cNvSpPr>
          <p:nvPr/>
        </p:nvSpPr>
        <p:spPr bwMode="auto">
          <a:xfrm>
            <a:off x="4017822" y="3548752"/>
            <a:ext cx="102213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8" name="Oval 116"/>
          <p:cNvSpPr>
            <a:spLocks/>
          </p:cNvSpPr>
          <p:nvPr/>
        </p:nvSpPr>
        <p:spPr bwMode="auto">
          <a:xfrm>
            <a:off x="4860765" y="3201732"/>
            <a:ext cx="102213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9" name="Oval 117"/>
          <p:cNvSpPr>
            <a:spLocks/>
          </p:cNvSpPr>
          <p:nvPr/>
        </p:nvSpPr>
        <p:spPr bwMode="auto">
          <a:xfrm>
            <a:off x="5270879" y="3055353"/>
            <a:ext cx="102213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0" name="Oval 118"/>
          <p:cNvSpPr>
            <a:spLocks/>
          </p:cNvSpPr>
          <p:nvPr/>
        </p:nvSpPr>
        <p:spPr bwMode="auto">
          <a:xfrm>
            <a:off x="5582565" y="3201732"/>
            <a:ext cx="100951" cy="100951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9525">
            <a:solidFill>
              <a:schemeClr val="accent6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1" name="Group 135"/>
          <p:cNvGrpSpPr/>
          <p:nvPr/>
        </p:nvGrpSpPr>
        <p:grpSpPr>
          <a:xfrm>
            <a:off x="3530364" y="1686017"/>
            <a:ext cx="1810517" cy="2176270"/>
            <a:chOff x="4707152" y="2248023"/>
            <a:chExt cx="2414023" cy="2901694"/>
          </a:xfrm>
        </p:grpSpPr>
        <p:sp>
          <p:nvSpPr>
            <p:cNvPr id="83" name="Oval 115"/>
            <p:cNvSpPr>
              <a:spLocks/>
            </p:cNvSpPr>
            <p:nvPr/>
          </p:nvSpPr>
          <p:spPr bwMode="auto">
            <a:xfrm>
              <a:off x="6054864" y="5013433"/>
              <a:ext cx="136284" cy="136284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2700" cap="flat" cmpd="sng" algn="ctr">
              <a:solidFill>
                <a:schemeClr val="bg1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84" name="Group 119"/>
            <p:cNvGrpSpPr/>
            <p:nvPr/>
          </p:nvGrpSpPr>
          <p:grpSpPr>
            <a:xfrm>
              <a:off x="4707152" y="2248023"/>
              <a:ext cx="2414023" cy="2522443"/>
              <a:chOff x="4707152" y="2248023"/>
              <a:chExt cx="2414023" cy="2522443"/>
            </a:xfrm>
          </p:grpSpPr>
          <p:grpSp>
            <p:nvGrpSpPr>
              <p:cNvPr id="85" name="Group 21"/>
              <p:cNvGrpSpPr/>
              <p:nvPr/>
            </p:nvGrpSpPr>
            <p:grpSpPr>
              <a:xfrm>
                <a:off x="6792726" y="2408141"/>
                <a:ext cx="328449" cy="330554"/>
                <a:chOff x="4149281" y="1887719"/>
                <a:chExt cx="224837" cy="226650"/>
              </a:xfrm>
            </p:grpSpPr>
            <p:sp>
              <p:nvSpPr>
                <p:cNvPr id="98" name="Oval 82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Oval 83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6" name="Group 22"/>
              <p:cNvGrpSpPr/>
              <p:nvPr/>
            </p:nvGrpSpPr>
            <p:grpSpPr>
              <a:xfrm>
                <a:off x="5832354" y="2796766"/>
                <a:ext cx="328449" cy="330554"/>
                <a:chOff x="4149281" y="1887719"/>
                <a:chExt cx="224837" cy="226650"/>
              </a:xfrm>
            </p:grpSpPr>
            <p:sp>
              <p:nvSpPr>
                <p:cNvPr id="96" name="Oval 80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val 81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7" name="Group 23"/>
              <p:cNvGrpSpPr/>
              <p:nvPr/>
            </p:nvGrpSpPr>
            <p:grpSpPr>
              <a:xfrm>
                <a:off x="4707152" y="3462362"/>
                <a:ext cx="328449" cy="330554"/>
                <a:chOff x="4149281" y="1887719"/>
                <a:chExt cx="224837" cy="226650"/>
              </a:xfrm>
            </p:grpSpPr>
            <p:sp>
              <p:nvSpPr>
                <p:cNvPr id="94" name="Oval 78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Oval 79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8" name="Group 36"/>
              <p:cNvGrpSpPr/>
              <p:nvPr/>
            </p:nvGrpSpPr>
            <p:grpSpPr>
              <a:xfrm>
                <a:off x="5940643" y="4439912"/>
                <a:ext cx="328449" cy="330554"/>
                <a:chOff x="4149281" y="1887719"/>
                <a:chExt cx="224837" cy="226650"/>
              </a:xfrm>
            </p:grpSpPr>
            <p:sp>
              <p:nvSpPr>
                <p:cNvPr id="92" name="Oval 52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Oval 53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9" name="Group 37"/>
              <p:cNvGrpSpPr/>
              <p:nvPr/>
            </p:nvGrpSpPr>
            <p:grpSpPr>
              <a:xfrm>
                <a:off x="5995533" y="2248023"/>
                <a:ext cx="206943" cy="208270"/>
                <a:chOff x="4149281" y="1887719"/>
                <a:chExt cx="224837" cy="226650"/>
              </a:xfrm>
            </p:grpSpPr>
            <p:sp>
              <p:nvSpPr>
                <p:cNvPr id="90" name="Oval 50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Oval 51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32" name="Group 131"/>
          <p:cNvGrpSpPr/>
          <p:nvPr/>
        </p:nvGrpSpPr>
        <p:grpSpPr>
          <a:xfrm>
            <a:off x="4487877" y="2557330"/>
            <a:ext cx="1160770" cy="352069"/>
            <a:chOff x="5983836" y="3409773"/>
            <a:chExt cx="1547693" cy="469425"/>
          </a:xfrm>
        </p:grpSpPr>
        <p:grpSp>
          <p:nvGrpSpPr>
            <p:cNvPr id="74" name="Group 20"/>
            <p:cNvGrpSpPr/>
            <p:nvPr/>
          </p:nvGrpSpPr>
          <p:grpSpPr>
            <a:xfrm>
              <a:off x="6383629" y="3409773"/>
              <a:ext cx="328449" cy="330554"/>
              <a:chOff x="4149281" y="1887719"/>
              <a:chExt cx="224837" cy="226650"/>
            </a:xfrm>
          </p:grpSpPr>
          <p:sp>
            <p:nvSpPr>
              <p:cNvPr id="81" name="Oval 84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val 85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Group 39"/>
            <p:cNvGrpSpPr/>
            <p:nvPr/>
          </p:nvGrpSpPr>
          <p:grpSpPr>
            <a:xfrm>
              <a:off x="5983836" y="3624513"/>
              <a:ext cx="206943" cy="208270"/>
              <a:chOff x="4149281" y="1887719"/>
              <a:chExt cx="224837" cy="226650"/>
            </a:xfrm>
          </p:grpSpPr>
          <p:sp>
            <p:nvSpPr>
              <p:cNvPr id="79" name="Oval 46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val 47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76" name="Group 40"/>
            <p:cNvGrpSpPr/>
            <p:nvPr/>
          </p:nvGrpSpPr>
          <p:grpSpPr>
            <a:xfrm>
              <a:off x="7303891" y="3650101"/>
              <a:ext cx="227638" cy="229097"/>
              <a:chOff x="4149281" y="1887719"/>
              <a:chExt cx="224837" cy="226650"/>
            </a:xfrm>
          </p:grpSpPr>
          <p:sp>
            <p:nvSpPr>
              <p:cNvPr id="77" name="Oval 44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Oval 45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3" name="Group 130"/>
          <p:cNvGrpSpPr/>
          <p:nvPr/>
        </p:nvGrpSpPr>
        <p:grpSpPr>
          <a:xfrm>
            <a:off x="2993237" y="1172544"/>
            <a:ext cx="3139085" cy="3081350"/>
            <a:chOff x="3990983" y="1563392"/>
            <a:chExt cx="4185447" cy="4108467"/>
          </a:xfrm>
        </p:grpSpPr>
        <p:grpSp>
          <p:nvGrpSpPr>
            <p:cNvPr id="34" name="Group 24"/>
            <p:cNvGrpSpPr/>
            <p:nvPr/>
          </p:nvGrpSpPr>
          <p:grpSpPr>
            <a:xfrm>
              <a:off x="4085983" y="4338917"/>
              <a:ext cx="250401" cy="252007"/>
              <a:chOff x="4149281" y="1887719"/>
              <a:chExt cx="224837" cy="226650"/>
            </a:xfrm>
          </p:grpSpPr>
          <p:sp>
            <p:nvSpPr>
              <p:cNvPr id="72" name="Oval 76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val 77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25"/>
            <p:cNvGrpSpPr/>
            <p:nvPr/>
          </p:nvGrpSpPr>
          <p:grpSpPr>
            <a:xfrm>
              <a:off x="5165128" y="5419852"/>
              <a:ext cx="250401" cy="252007"/>
              <a:chOff x="4149281" y="1887719"/>
              <a:chExt cx="224837" cy="226650"/>
            </a:xfrm>
          </p:grpSpPr>
          <p:sp>
            <p:nvSpPr>
              <p:cNvPr id="70" name="Oval 74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val 75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Group 26"/>
            <p:cNvGrpSpPr/>
            <p:nvPr/>
          </p:nvGrpSpPr>
          <p:grpSpPr>
            <a:xfrm>
              <a:off x="6786047" y="5374409"/>
              <a:ext cx="250401" cy="252007"/>
              <a:chOff x="4149281" y="1887719"/>
              <a:chExt cx="224837" cy="226650"/>
            </a:xfrm>
          </p:grpSpPr>
          <p:sp>
            <p:nvSpPr>
              <p:cNvPr id="68" name="Oval 72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val 73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Group 27"/>
            <p:cNvGrpSpPr/>
            <p:nvPr/>
          </p:nvGrpSpPr>
          <p:grpSpPr>
            <a:xfrm>
              <a:off x="7853773" y="4463088"/>
              <a:ext cx="250401" cy="252007"/>
              <a:chOff x="4149281" y="1887719"/>
              <a:chExt cx="224837" cy="226650"/>
            </a:xfrm>
          </p:grpSpPr>
          <p:sp>
            <p:nvSpPr>
              <p:cNvPr id="66" name="Oval 70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val 71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Oval 68"/>
            <p:cNvSpPr/>
            <p:nvPr/>
          </p:nvSpPr>
          <p:spPr>
            <a:xfrm>
              <a:off x="7900989" y="2960836"/>
              <a:ext cx="275441" cy="277207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39" name="Group 29"/>
            <p:cNvGrpSpPr/>
            <p:nvPr/>
          </p:nvGrpSpPr>
          <p:grpSpPr>
            <a:xfrm>
              <a:off x="7460264" y="2178046"/>
              <a:ext cx="206943" cy="208270"/>
              <a:chOff x="4149281" y="1887719"/>
              <a:chExt cx="224837" cy="226650"/>
            </a:xfrm>
          </p:grpSpPr>
          <p:sp>
            <p:nvSpPr>
              <p:cNvPr id="64" name="Oval 66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val 67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0" name="Group 30"/>
            <p:cNvGrpSpPr/>
            <p:nvPr/>
          </p:nvGrpSpPr>
          <p:grpSpPr>
            <a:xfrm>
              <a:off x="6673055" y="1696133"/>
              <a:ext cx="206943" cy="208270"/>
              <a:chOff x="4149281" y="1887719"/>
              <a:chExt cx="224837" cy="226650"/>
            </a:xfrm>
          </p:grpSpPr>
          <p:sp>
            <p:nvSpPr>
              <p:cNvPr id="62" name="Oval 64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val 65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Group 31"/>
            <p:cNvGrpSpPr/>
            <p:nvPr/>
          </p:nvGrpSpPr>
          <p:grpSpPr>
            <a:xfrm>
              <a:off x="5636903" y="1563392"/>
              <a:ext cx="206943" cy="208270"/>
              <a:chOff x="4149281" y="1887719"/>
              <a:chExt cx="224837" cy="226650"/>
            </a:xfrm>
          </p:grpSpPr>
          <p:sp>
            <p:nvSpPr>
              <p:cNvPr id="60" name="Oval 62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val 63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Group 32"/>
            <p:cNvGrpSpPr/>
            <p:nvPr/>
          </p:nvGrpSpPr>
          <p:grpSpPr>
            <a:xfrm>
              <a:off x="4353051" y="2331478"/>
              <a:ext cx="219675" cy="221084"/>
              <a:chOff x="4149281" y="1887719"/>
              <a:chExt cx="224837" cy="226650"/>
            </a:xfrm>
          </p:grpSpPr>
          <p:sp>
            <p:nvSpPr>
              <p:cNvPr id="58" name="Oval 60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val 61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Group 33"/>
            <p:cNvGrpSpPr/>
            <p:nvPr/>
          </p:nvGrpSpPr>
          <p:grpSpPr>
            <a:xfrm>
              <a:off x="3990983" y="3187984"/>
              <a:ext cx="219675" cy="221084"/>
              <a:chOff x="4149281" y="1887719"/>
              <a:chExt cx="224837" cy="226650"/>
            </a:xfrm>
          </p:grpSpPr>
          <p:sp>
            <p:nvSpPr>
              <p:cNvPr id="56" name="Oval 58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val 59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Group 34"/>
            <p:cNvGrpSpPr/>
            <p:nvPr/>
          </p:nvGrpSpPr>
          <p:grpSpPr>
            <a:xfrm>
              <a:off x="4705258" y="2828806"/>
              <a:ext cx="199705" cy="200984"/>
              <a:chOff x="4149281" y="1887719"/>
              <a:chExt cx="224837" cy="226650"/>
            </a:xfrm>
          </p:grpSpPr>
          <p:sp>
            <p:nvSpPr>
              <p:cNvPr id="54" name="Oval 56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val 57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Group 35"/>
            <p:cNvGrpSpPr/>
            <p:nvPr/>
          </p:nvGrpSpPr>
          <p:grpSpPr>
            <a:xfrm>
              <a:off x="4867553" y="4396697"/>
              <a:ext cx="328449" cy="330554"/>
              <a:chOff x="4149281" y="1887719"/>
              <a:chExt cx="224837" cy="226650"/>
            </a:xfrm>
          </p:grpSpPr>
          <p:sp>
            <p:nvSpPr>
              <p:cNvPr id="52" name="Oval 54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val 55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Group 38"/>
            <p:cNvGrpSpPr/>
            <p:nvPr/>
          </p:nvGrpSpPr>
          <p:grpSpPr>
            <a:xfrm>
              <a:off x="5480832" y="1998704"/>
              <a:ext cx="206943" cy="208270"/>
              <a:chOff x="4149281" y="1887719"/>
              <a:chExt cx="224837" cy="226650"/>
            </a:xfrm>
          </p:grpSpPr>
          <p:sp>
            <p:nvSpPr>
              <p:cNvPr id="50" name="Oval 48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val 49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Group 41"/>
            <p:cNvGrpSpPr/>
            <p:nvPr/>
          </p:nvGrpSpPr>
          <p:grpSpPr>
            <a:xfrm>
              <a:off x="7068613" y="4908628"/>
              <a:ext cx="250402" cy="252007"/>
              <a:chOff x="4149281" y="1887719"/>
              <a:chExt cx="224837" cy="226650"/>
            </a:xfrm>
          </p:grpSpPr>
          <p:sp>
            <p:nvSpPr>
              <p:cNvPr id="48" name="Oval 42"/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Oval 43"/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Group 136"/>
          <p:cNvGrpSpPr/>
          <p:nvPr/>
        </p:nvGrpSpPr>
        <p:grpSpPr>
          <a:xfrm>
            <a:off x="6364551" y="2995100"/>
            <a:ext cx="1897772" cy="1088404"/>
            <a:chOff x="8328246" y="2276873"/>
            <a:chExt cx="2198694" cy="1006991"/>
          </a:xfrm>
        </p:grpSpPr>
        <p:sp>
          <p:nvSpPr>
            <p:cNvPr id="15" name="TextBox 137"/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100000"/>
                    </a:schemeClr>
                  </a:solidFill>
                  <a:cs typeface="+mn-ea"/>
                  <a:sym typeface="+mn-lt"/>
                </a:rPr>
                <a:t>操作较为麻烦</a:t>
              </a:r>
            </a:p>
          </p:txBody>
        </p:sp>
        <p:sp>
          <p:nvSpPr>
            <p:cNvPr id="16" name="TextBox 138"/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由于在</a:t>
              </a:r>
              <a:r>
                <a:rPr lang="en-US" altLang="zh-CN" sz="1000" dirty="0" err="1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logisim</a:t>
              </a: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中实现游戏，上下左右只能靠鼠标点击，如果能够绑定键盘按键体验会更好</a:t>
              </a:r>
            </a:p>
          </p:txBody>
        </p:sp>
      </p:grpSp>
      <p:grpSp>
        <p:nvGrpSpPr>
          <p:cNvPr id="6" name="Group 139"/>
          <p:cNvGrpSpPr/>
          <p:nvPr/>
        </p:nvGrpSpPr>
        <p:grpSpPr>
          <a:xfrm>
            <a:off x="6009784" y="1222306"/>
            <a:ext cx="1911886" cy="1192392"/>
            <a:chOff x="1197898" y="2503545"/>
            <a:chExt cx="2198693" cy="1006991"/>
          </a:xfrm>
        </p:grpSpPr>
        <p:sp>
          <p:nvSpPr>
            <p:cNvPr id="13" name="TextBox 140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  <a:cs typeface="+mn-ea"/>
                  <a:sym typeface="+mn-lt"/>
                </a:rPr>
                <a:t>游戏容量受限</a:t>
              </a:r>
            </a:p>
          </p:txBody>
        </p:sp>
        <p:sp>
          <p:nvSpPr>
            <p:cNvPr id="14" name="TextBox 141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受限于单周期</a:t>
              </a:r>
              <a:r>
                <a:rPr lang="en-US" altLang="zh-CN" sz="10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CPU</a:t>
              </a: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的指令存储器容量，汇编代码量不能太大，也就不可能实现太多关卡或较为复杂的功能</a:t>
              </a:r>
            </a:p>
          </p:txBody>
        </p:sp>
      </p:grpSp>
      <p:grpSp>
        <p:nvGrpSpPr>
          <p:cNvPr id="7" name="Group 142"/>
          <p:cNvGrpSpPr/>
          <p:nvPr/>
        </p:nvGrpSpPr>
        <p:grpSpPr>
          <a:xfrm>
            <a:off x="1225965" y="2995100"/>
            <a:ext cx="1869873" cy="1045537"/>
            <a:chOff x="8328246" y="2276873"/>
            <a:chExt cx="2198694" cy="1394050"/>
          </a:xfrm>
        </p:grpSpPr>
        <p:sp>
          <p:nvSpPr>
            <p:cNvPr id="11" name="TextBox 143"/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  <a:cs typeface="+mn-ea"/>
                  <a:sym typeface="+mn-lt"/>
                </a:rPr>
                <a:t>电路简单无依赖</a:t>
              </a:r>
            </a:p>
          </p:txBody>
        </p:sp>
        <p:sp>
          <p:nvSpPr>
            <p:cNvPr id="12" name="TextBox 144"/>
            <p:cNvSpPr txBox="1">
              <a:spLocks/>
            </p:cNvSpPr>
            <p:nvPr/>
          </p:nvSpPr>
          <p:spPr>
            <a:xfrm>
              <a:off x="8328246" y="2665097"/>
              <a:ext cx="2198693" cy="100582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/>
                <a:t>使用</a:t>
              </a:r>
              <a:r>
                <a:rPr lang="en-US" altLang="zh-CN" sz="1000" dirty="0" err="1"/>
                <a:t>logisim</a:t>
              </a:r>
              <a:r>
                <a:rPr lang="zh-CN" altLang="en-US" sz="1000" dirty="0"/>
                <a:t>基础原件，原件电路之间独立性强，不需其他软硬件支持，便于调试与修复</a:t>
              </a:r>
              <a:endParaRPr lang="zh-CN" altLang="en-US" sz="10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Group 145"/>
          <p:cNvGrpSpPr/>
          <p:nvPr/>
        </p:nvGrpSpPr>
        <p:grpSpPr>
          <a:xfrm>
            <a:off x="1216802" y="1222306"/>
            <a:ext cx="1613246" cy="1119811"/>
            <a:chOff x="1197898" y="2503545"/>
            <a:chExt cx="2198693" cy="1006991"/>
          </a:xfrm>
        </p:grpSpPr>
        <p:sp>
          <p:nvSpPr>
            <p:cNvPr id="9" name="TextBox 146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  <a:cs typeface="+mn-ea"/>
                  <a:sym typeface="+mn-lt"/>
                </a:rPr>
                <a:t>操作简单易上手</a:t>
              </a:r>
            </a:p>
          </p:txBody>
        </p:sp>
        <p:sp>
          <p:nvSpPr>
            <p:cNvPr id="10" name="TextBox 147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92500"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作为一款小游戏，逻辑清晰，目标明确。不需要过多的说明即可让用户明白操作</a:t>
              </a:r>
            </a:p>
          </p:txBody>
        </p:sp>
      </p:grpSp>
      <p:sp>
        <p:nvSpPr>
          <p:cNvPr id="120" name="Title 1">
            <a:extLst>
              <a:ext uri="{FF2B5EF4-FFF2-40B4-BE49-F238E27FC236}">
                <a16:creationId xmlns:a16="http://schemas.microsoft.com/office/drawing/2014/main" id="{01042C6D-74F6-4B6A-9BBA-6D0C5B77CDF3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任务总结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1B33E8-6446-40EE-BFCD-CC11E2BB77B8}"/>
              </a:ext>
            </a:extLst>
          </p:cNvPr>
          <p:cNvSpPr txBox="1"/>
          <p:nvPr/>
        </p:nvSpPr>
        <p:spPr>
          <a:xfrm>
            <a:off x="302705" y="2541574"/>
            <a:ext cx="60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>
                    <a:lumMod val="100000"/>
                  </a:schemeClr>
                </a:solidFill>
                <a:cs typeface="+mn-ea"/>
              </a:rPr>
              <a:t>优点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9E163EF7-D576-4114-AA13-0578593F756F}"/>
              </a:ext>
            </a:extLst>
          </p:cNvPr>
          <p:cNvSpPr/>
          <p:nvPr/>
        </p:nvSpPr>
        <p:spPr>
          <a:xfrm>
            <a:off x="914789" y="1617708"/>
            <a:ext cx="239249" cy="222840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F8C73671-D6D5-4B04-98DB-E1A189740F75}"/>
              </a:ext>
            </a:extLst>
          </p:cNvPr>
          <p:cNvSpPr/>
          <p:nvPr/>
        </p:nvSpPr>
        <p:spPr>
          <a:xfrm>
            <a:off x="8028384" y="1618290"/>
            <a:ext cx="233939" cy="2227236"/>
          </a:xfrm>
          <a:prstGeom prst="righ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F7D1B9F-855B-4C66-8645-A3DF13FF7985}"/>
              </a:ext>
            </a:extLst>
          </p:cNvPr>
          <p:cNvSpPr txBox="1"/>
          <p:nvPr/>
        </p:nvSpPr>
        <p:spPr>
          <a:xfrm>
            <a:off x="8262323" y="2549334"/>
            <a:ext cx="60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100000"/>
                  </a:schemeClr>
                </a:solidFill>
                <a:cs typeface="+mn-ea"/>
              </a:rPr>
              <a:t>缺点</a:t>
            </a:r>
          </a:p>
        </p:txBody>
      </p:sp>
    </p:spTree>
    <p:extLst>
      <p:ext uri="{BB962C8B-B14F-4D97-AF65-F5344CB8AC3E}">
        <p14:creationId xmlns:p14="http://schemas.microsoft.com/office/powerpoint/2010/main" val="57425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5536" y="1455626"/>
            <a:ext cx="8352928" cy="2844316"/>
          </a:xfrm>
          <a:prstGeom prst="rect">
            <a:avLst/>
          </a:prstGeom>
          <a:solidFill>
            <a:srgbClr val="2C394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59196" y="2054586"/>
            <a:ext cx="66568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b="1" spc="300" dirty="0">
                <a:solidFill>
                  <a:schemeClr val="bg1"/>
                </a:solidFill>
                <a:cs typeface="+mn-ea"/>
                <a:sym typeface="+mn-lt"/>
              </a:rPr>
              <a:t>谢谢大家</a:t>
            </a:r>
          </a:p>
        </p:txBody>
      </p:sp>
      <p:sp>
        <p:nvSpPr>
          <p:cNvPr id="12" name="矩形 11"/>
          <p:cNvSpPr/>
          <p:nvPr/>
        </p:nvSpPr>
        <p:spPr>
          <a:xfrm>
            <a:off x="3769492" y="700376"/>
            <a:ext cx="1636291" cy="1159449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91262" y="4065896"/>
            <a:ext cx="2016224" cy="531310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93" y="734952"/>
            <a:ext cx="1636291" cy="1348662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565" y="4075363"/>
            <a:ext cx="2122869" cy="492130"/>
          </a:xfrm>
          <a:prstGeom prst="rect">
            <a:avLst/>
          </a:prstGeom>
        </p:spPr>
      </p:pic>
      <p:sp>
        <p:nvSpPr>
          <p:cNvPr id="13" name="TextBox 26">
            <a:extLst>
              <a:ext uri="{FF2B5EF4-FFF2-40B4-BE49-F238E27FC236}">
                <a16:creationId xmlns:a16="http://schemas.microsoft.com/office/drawing/2014/main" id="{0835EF93-3D18-470E-9AC7-1C4838355490}"/>
              </a:ext>
            </a:extLst>
          </p:cNvPr>
          <p:cNvSpPr txBox="1"/>
          <p:nvPr/>
        </p:nvSpPr>
        <p:spPr>
          <a:xfrm>
            <a:off x="2735796" y="311206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团队名称：实验做不队</a:t>
            </a: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B9661A01-3564-4640-AF99-6FEE489A0F62}"/>
              </a:ext>
            </a:extLst>
          </p:cNvPr>
          <p:cNvSpPr txBox="1"/>
          <p:nvPr/>
        </p:nvSpPr>
        <p:spPr>
          <a:xfrm>
            <a:off x="1506353" y="35284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团队</a:t>
            </a: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成员：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493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0"/>
      <p:bldP spid="13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第一PPT模板网-WWW.1PPT.CO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C394C"/>
      </a:accent1>
      <a:accent2>
        <a:srgbClr val="0083B4"/>
      </a:accent2>
      <a:accent3>
        <a:srgbClr val="2C394C"/>
      </a:accent3>
      <a:accent4>
        <a:srgbClr val="0083B4"/>
      </a:accent4>
      <a:accent5>
        <a:srgbClr val="2C394C"/>
      </a:accent5>
      <a:accent6>
        <a:srgbClr val="0083B4"/>
      </a:accent6>
      <a:hlink>
        <a:srgbClr val="2C394C"/>
      </a:hlink>
      <a:folHlink>
        <a:srgbClr val="0083B4"/>
      </a:folHlink>
    </a:clrScheme>
    <a:fontScheme name="3neoysxa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1F497D"/>
    </a:dk2>
    <a:lt2>
      <a:srgbClr val="EEECE1"/>
    </a:lt2>
    <a:accent1>
      <a:srgbClr val="2C394C"/>
    </a:accent1>
    <a:accent2>
      <a:srgbClr val="0083B4"/>
    </a:accent2>
    <a:accent3>
      <a:srgbClr val="2C394C"/>
    </a:accent3>
    <a:accent4>
      <a:srgbClr val="0083B4"/>
    </a:accent4>
    <a:accent5>
      <a:srgbClr val="2C394C"/>
    </a:accent5>
    <a:accent6>
      <a:srgbClr val="0083B4"/>
    </a:accent6>
    <a:hlink>
      <a:srgbClr val="2C394C"/>
    </a:hlink>
    <a:folHlink>
      <a:srgbClr val="0083B4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1F497D"/>
    </a:dk2>
    <a:lt2>
      <a:srgbClr val="EEECE1"/>
    </a:lt2>
    <a:accent1>
      <a:srgbClr val="2C394C"/>
    </a:accent1>
    <a:accent2>
      <a:srgbClr val="0083B4"/>
    </a:accent2>
    <a:accent3>
      <a:srgbClr val="2C394C"/>
    </a:accent3>
    <a:accent4>
      <a:srgbClr val="0083B4"/>
    </a:accent4>
    <a:accent5>
      <a:srgbClr val="2C394C"/>
    </a:accent5>
    <a:accent6>
      <a:srgbClr val="0083B4"/>
    </a:accent6>
    <a:hlink>
      <a:srgbClr val="2C394C"/>
    </a:hlink>
    <a:folHlink>
      <a:srgbClr val="0083B4"/>
    </a:folHlink>
  </a:clrScheme>
</a:themeOverride>
</file>

<file path=ppt/theme/themeOverride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1F497D"/>
    </a:dk2>
    <a:lt2>
      <a:srgbClr val="EEECE1"/>
    </a:lt2>
    <a:accent1>
      <a:srgbClr val="2C394C"/>
    </a:accent1>
    <a:accent2>
      <a:srgbClr val="0083B4"/>
    </a:accent2>
    <a:accent3>
      <a:srgbClr val="2C394C"/>
    </a:accent3>
    <a:accent4>
      <a:srgbClr val="0083B4"/>
    </a:accent4>
    <a:accent5>
      <a:srgbClr val="2C394C"/>
    </a:accent5>
    <a:accent6>
      <a:srgbClr val="0083B4"/>
    </a:accent6>
    <a:hlink>
      <a:srgbClr val="2C394C"/>
    </a:hlink>
    <a:folHlink>
      <a:srgbClr val="0083B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3121</TotalTime>
  <Words>1390</Words>
  <Application>Microsoft Office PowerPoint</Application>
  <PresentationFormat>全屏显示(16:9)</PresentationFormat>
  <Paragraphs>178</Paragraphs>
  <Slides>24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新宋体</vt:lpstr>
      <vt:lpstr>Arial</vt:lpstr>
      <vt:lpstr>Calibri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</dc:creator>
  <cp:keywords>第一PPT模板网-WWW.1PPT.COM</cp:keywords>
  <cp:lastModifiedBy>陈侠锟</cp:lastModifiedBy>
  <cp:revision>229</cp:revision>
  <dcterms:created xsi:type="dcterms:W3CDTF">2015-12-11T17:46:17Z</dcterms:created>
  <dcterms:modified xsi:type="dcterms:W3CDTF">2025-02-17T12:55:36Z</dcterms:modified>
</cp:coreProperties>
</file>